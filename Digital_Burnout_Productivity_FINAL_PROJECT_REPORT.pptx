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7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9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0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6.xml" ContentType="application/vnd.openxmlformats-officedocument.drawingml.chart+xml"/>
  <Override PartName="/ppt/notesSlides/notesSlide40.xml" ContentType="application/vnd.openxmlformats-officedocument.presentationml.notesSlide+xml"/>
  <Override PartName="/ppt/charts/chart17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media/image22.jpg" ContentType="image/jpg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media/image23.jpg" ContentType="image/jpg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media/image24.jpg" ContentType="image/jpg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media/image25.jpg" ContentType="image/jpg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media/image26.jpg" ContentType="image/jpg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media/image27.jpg" ContentType="image/jpg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4" r:id="rId2"/>
    <p:sldMasterId id="2147483677" r:id="rId3"/>
  </p:sldMasterIdLst>
  <p:notesMasterIdLst>
    <p:notesMasterId r:id="rId65"/>
  </p:notesMasterIdLst>
  <p:handoutMasterIdLst>
    <p:handoutMasterId r:id="rId6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8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1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Records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71-44BC-9073-7ABB4ABF6C70}"/>
              </c:ext>
            </c:extLst>
          </c:dPt>
          <c:dPt>
            <c:idx val="1"/>
            <c:invertIfNegative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71-44BC-9073-7ABB4ABF6C70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71-44BC-9073-7ABB4ABF6C70}"/>
              </c:ext>
            </c:extLst>
          </c:dPt>
          <c:dPt>
            <c:idx val="3"/>
            <c:invertIfNegative val="0"/>
            <c:bubble3D val="0"/>
            <c:spPr>
              <a:solidFill>
                <a:srgbClr val="241B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71-44BC-9073-7ABB4ABF6C7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19.03</c:v>
                </c:pt>
                <c:pt idx="1">
                  <c:v>23.86</c:v>
                </c:pt>
                <c:pt idx="2">
                  <c:v>23.79</c:v>
                </c:pt>
                <c:pt idx="3">
                  <c:v>33.31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71-44BC-9073-7ABB4ABF6C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Records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Freelancer</c:v>
                </c:pt>
                <c:pt idx="1">
                  <c:v>Designer</c:v>
                </c:pt>
                <c:pt idx="2">
                  <c:v>Manager</c:v>
                </c:pt>
                <c:pt idx="3">
                  <c:v>Content Creator</c:v>
                </c:pt>
                <c:pt idx="4">
                  <c:v>Software Engineer</c:v>
                </c:pt>
                <c:pt idx="5">
                  <c:v>Analyst</c:v>
                </c:pt>
                <c:pt idx="6">
                  <c:v>Student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14.35</c:v>
                </c:pt>
                <c:pt idx="1">
                  <c:v>14.32</c:v>
                </c:pt>
                <c:pt idx="2">
                  <c:v>14.3</c:v>
                </c:pt>
                <c:pt idx="3">
                  <c:v>14.28</c:v>
                </c:pt>
                <c:pt idx="4">
                  <c:v>14.28</c:v>
                </c:pt>
                <c:pt idx="5">
                  <c:v>14.27</c:v>
                </c:pt>
                <c:pt idx="6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FE-4103-966B-54CD522CE1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E9-4C20-AF6C-D9857FD5B810}"/>
              </c:ext>
            </c:extLst>
          </c:dPt>
          <c:dPt>
            <c:idx val="1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9-4C20-AF6C-D9857FD5B810}"/>
              </c:ext>
            </c:extLst>
          </c:dPt>
          <c:dPt>
            <c:idx val="2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E9-4C20-AF6C-D9857FD5B810}"/>
              </c:ext>
            </c:extLst>
          </c:dPt>
          <c:cat>
            <c:strRef>
              <c:f>Sheet1!$A$2:$A$4</c:f>
              <c:strCache>
                <c:ptCount val="3"/>
                <c:pt idx="0">
                  <c:v>Remote</c:v>
                </c:pt>
                <c:pt idx="1">
                  <c:v>Hybrid</c:v>
                </c:pt>
                <c:pt idx="2">
                  <c:v>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44.98</c:v>
                </c:pt>
                <c:pt idx="1">
                  <c:v>34.950000000000003</c:v>
                </c:pt>
                <c:pt idx="2">
                  <c:v>20.059999999999999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E9-4C20-AF6C-D9857FD5B8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BD-4089-B60D-B05EB33F1964}"/>
              </c:ext>
            </c:extLst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BD-4089-B60D-B05EB33F1964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BD-4089-B60D-B05EB33F1964}"/>
              </c:ext>
            </c:extLst>
          </c:dPt>
          <c:cat>
            <c:strRef>
              <c:f>Sheet1!$A$2:$A$4</c:f>
              <c:strCache>
                <c:ptCount val="3"/>
                <c:pt idx="0">
                  <c:v>Balanced</c:v>
                </c:pt>
                <c:pt idx="1">
                  <c:v>Work-Centric</c:v>
                </c:pt>
                <c:pt idx="2">
                  <c:v>Entertainment-Centric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35.020000000000003</c:v>
                </c:pt>
                <c:pt idx="1">
                  <c:v>34.96</c:v>
                </c:pt>
                <c:pt idx="2">
                  <c:v>30.02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BD-4089-B60D-B05EB33F1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Employee-Days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6F-4997-B08A-435B4767393D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6F-4997-B08A-435B4767393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Rest of Workforce
(&lt; 2.6 hrs/day)</c:v>
                </c:pt>
                <c:pt idx="1">
                  <c:v>Top Quartile
(≥ 2.6 hrs/day)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73.37</c:v>
                </c:pt>
                <c:pt idx="1">
                  <c:v>26.63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6F-4997-B08A-435B47673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Employee-Days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26-4758-9385-916C51389D9A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26-4758-9385-916C51389D9A}"/>
              </c:ext>
            </c:extLst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26-4758-9385-916C51389D9A}"/>
              </c:ext>
            </c:extLst>
          </c:dPt>
          <c:dPt>
            <c:idx val="3"/>
            <c:invertIfNegative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626-4758-9385-916C51389D9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&lt;6 hrs</c:v>
                </c:pt>
                <c:pt idx="1">
                  <c:v>6-7 hrs</c:v>
                </c:pt>
                <c:pt idx="2">
                  <c:v>7-8 hrs</c:v>
                </c:pt>
                <c:pt idx="3">
                  <c:v>&gt;8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34.97</c:v>
                </c:pt>
                <c:pt idx="1">
                  <c:v>27.61</c:v>
                </c:pt>
                <c:pt idx="2">
                  <c:v>21.07</c:v>
                </c:pt>
                <c:pt idx="3">
                  <c:v>16.350000000000001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626-4758-9385-916C51389D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Mental State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43-4FDA-8143-E665B5FA47B2}"/>
              </c:ext>
            </c:extLst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43-4FDA-8143-E665B5FA47B2}"/>
              </c:ext>
            </c:extLst>
          </c:dPt>
          <c:dPt>
            <c:idx val="2"/>
            <c:bubble3D val="0"/>
            <c:spPr>
              <a:solidFill>
                <a:srgbClr val="9AA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43-4FDA-8143-E665B5FA47B2}"/>
              </c:ext>
            </c:extLst>
          </c:dPt>
          <c:dPt>
            <c:idx val="3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43-4FDA-8143-E665B5FA47B2}"/>
              </c:ext>
            </c:extLst>
          </c:dPt>
          <c:cat>
            <c:strRef>
              <c:f>Sheet1!$A$2:$A$5</c:f>
              <c:strCache>
                <c:ptCount val="4"/>
                <c:pt idx="0">
                  <c:v>Distracted</c:v>
                </c:pt>
                <c:pt idx="1">
                  <c:v>Focused</c:v>
                </c:pt>
                <c:pt idx="2">
                  <c:v>Balanced</c:v>
                </c:pt>
                <c:pt idx="3">
                  <c:v>Burnout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30.03</c:v>
                </c:pt>
                <c:pt idx="1">
                  <c:v>25.04</c:v>
                </c:pt>
                <c:pt idx="2">
                  <c:v>24.96</c:v>
                </c:pt>
                <c:pt idx="3">
                  <c:v>19.98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43-4FDA-8143-E665B5FA4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Productivity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7E-43B3-8467-347376FAE825}"/>
              </c:ext>
            </c:extLst>
          </c:dPt>
          <c:dPt>
            <c:idx val="1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7E-43B3-8467-347376FAE825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7E-43B3-8467-347376FAE825}"/>
              </c:ext>
            </c:extLst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47.49</c:v>
                </c:pt>
                <c:pt idx="1">
                  <c:v>35.72</c:v>
                </c:pt>
                <c:pt idx="2">
                  <c:v>16.79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7E-43B3-8467-347376FAE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Risk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F9-42A4-8270-804C57A58A30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F9-42A4-8270-804C57A58A3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Rest of Workforce
(&lt; 2.6 hrs/day)</c:v>
                </c:pt>
                <c:pt idx="1">
                  <c:v>Top Quartile
(≥ 2.6 hrs/day)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46.52</c:v>
                </c:pt>
                <c:pt idx="1">
                  <c:v>54.28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F9-42A4-8270-804C57A58A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Burnout Risk Rate (%)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Designer</c:v>
                </c:pt>
                <c:pt idx="1">
                  <c:v>Manager</c:v>
                </c:pt>
                <c:pt idx="2">
                  <c:v>Freelancer</c:v>
                </c:pt>
                <c:pt idx="3">
                  <c:v>Analyst</c:v>
                </c:pt>
                <c:pt idx="4">
                  <c:v>Student</c:v>
                </c:pt>
                <c:pt idx="5">
                  <c:v>Content Creator</c:v>
                </c:pt>
                <c:pt idx="6">
                  <c:v>Software Engineer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16.850000000000001</c:v>
                </c:pt>
                <c:pt idx="1">
                  <c:v>16.829999999999998</c:v>
                </c:pt>
                <c:pt idx="2">
                  <c:v>16.809999999999999</c:v>
                </c:pt>
                <c:pt idx="3">
                  <c:v>16.8</c:v>
                </c:pt>
                <c:pt idx="4">
                  <c:v>16.760000000000002</c:v>
                </c:pt>
                <c:pt idx="5">
                  <c:v>16.72</c:v>
                </c:pt>
                <c:pt idx="6">
                  <c:v>16.66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DF-4AEB-B478-40FCCF3DA6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"/>
          <c:min val="1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High-Risk Records</c:v>
                </c:pt>
              </c:strCache>
            </c:strRef>
          </c:tx>
          <c:spPr>
            <a:solidFill>
              <a:srgbClr val="3225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Designer</c:v>
                </c:pt>
                <c:pt idx="1">
                  <c:v>Freelancer</c:v>
                </c:pt>
                <c:pt idx="2">
                  <c:v>Manager</c:v>
                </c:pt>
                <c:pt idx="3">
                  <c:v>Analyst</c:v>
                </c:pt>
                <c:pt idx="4">
                  <c:v>Student</c:v>
                </c:pt>
                <c:pt idx="5">
                  <c:v>Content Creator</c:v>
                </c:pt>
                <c:pt idx="6">
                  <c:v>Software Engineer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36201</c:v>
                </c:pt>
                <c:pt idx="1">
                  <c:v>36170</c:v>
                </c:pt>
                <c:pt idx="2">
                  <c:v>36086</c:v>
                </c:pt>
                <c:pt idx="3">
                  <c:v>35974</c:v>
                </c:pt>
                <c:pt idx="4">
                  <c:v>35695</c:v>
                </c:pt>
                <c:pt idx="5">
                  <c:v>35826</c:v>
                </c:pt>
                <c:pt idx="6">
                  <c:v>35684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6-4A65-BEA1-5490E3A479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Risk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BD-452F-8823-D91B8415A89F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BD-452F-8823-D91B8415A89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Late-Night Usage</c:v>
                </c:pt>
                <c:pt idx="1">
                  <c:v>Late-Night Usage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43.79</c:v>
                </c:pt>
                <c:pt idx="1">
                  <c:v>51.16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BD-452F-8823-D91B8415A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Sleep Hours</c:v>
                </c:pt>
              </c:strCache>
            </c:strRef>
          </c:tx>
          <c:spPr>
            <a:solidFill>
              <a:srgbClr val="3225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E7-4ED0-B565-6A9EA85AFFFD}"/>
              </c:ext>
            </c:extLst>
          </c:dPt>
          <c:dPt>
            <c:idx val="1"/>
            <c:invertIfNegative val="0"/>
            <c:bubble3D val="0"/>
            <c:spPr>
              <a:solidFill>
                <a:srgbClr val="3225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E7-4ED0-B565-6A9EA85AFFF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Late-Night Usage</c:v>
                </c:pt>
                <c:pt idx="1">
                  <c:v>Late-Night Usage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6.5</c:v>
                </c:pt>
                <c:pt idx="1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E7-4ED0-B565-6A9EA85AFF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Risk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48.51</c:v>
                </c:pt>
                <c:pt idx="1">
                  <c:v>48.59</c:v>
                </c:pt>
                <c:pt idx="2">
                  <c:v>48.6</c:v>
                </c:pt>
                <c:pt idx="3">
                  <c:v>48.61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0-4149-958A-CE33D2FB20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47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Productivity</c:v>
                </c:pt>
              </c:strCache>
            </c:strRef>
          </c:tx>
          <c:spPr>
            <a:ln w="2540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71.52</c:v>
                </c:pt>
                <c:pt idx="1">
                  <c:v>71.430000000000007</c:v>
                </c:pt>
                <c:pt idx="2">
                  <c:v>71.44</c:v>
                </c:pt>
                <c:pt idx="3">
                  <c:v>71.45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C9-48A9-82A4-3DE97F8227F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3"/>
          <c:min val="7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2A-4A59-B0AC-8016BC721F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B2A-4A59-B0AC-8016BC721F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B2A-4A59-B0AC-8016BC721F9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B2A-4A59-B0AC-8016BC721F9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B2A-4A59-B0AC-8016BC721F9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B2A-4A59-B0AC-8016BC721F9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B2A-4A59-B0AC-8016BC721F97}"/>
              </c:ext>
            </c:extLst>
          </c:dPt>
          <c:dPt>
            <c:idx val="7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B2A-4A59-B0AC-8016BC721F97}"/>
              </c:ext>
            </c:extLst>
          </c:dPt>
          <c:dPt>
            <c:idx val="8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B2A-4A59-B0AC-8016BC721F97}"/>
              </c:ext>
            </c:extLst>
          </c:dPt>
          <c:dPt>
            <c:idx val="9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B2A-4A59-B0AC-8016BC721F9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Emotional Exhaustion</c:v>
                </c:pt>
                <c:pt idx="1">
                  <c:v>Stress Level</c:v>
                </c:pt>
                <c:pt idx="2">
                  <c:v>Daily Screen Time</c:v>
                </c:pt>
                <c:pt idx="3">
                  <c:v>Doomscrolling Duration</c:v>
                </c:pt>
                <c:pt idx="4">
                  <c:v>Late-Night Device Usage</c:v>
                </c:pt>
                <c:pt idx="5">
                  <c:v>Distraction Frequency</c:v>
                </c:pt>
                <c:pt idx="6">
                  <c:v>Notification Count</c:v>
                </c:pt>
                <c:pt idx="7">
                  <c:v>Sleep Hours</c:v>
                </c:pt>
                <c:pt idx="8">
                  <c:v>Physical Activity</c:v>
                </c:pt>
                <c:pt idx="9">
                  <c:v>Work Satisfaction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1.5609999999999999</c:v>
                </c:pt>
                <c:pt idx="1">
                  <c:v>1.1579999999999999</c:v>
                </c:pt>
                <c:pt idx="2">
                  <c:v>0.67300000000000004</c:v>
                </c:pt>
                <c:pt idx="3">
                  <c:v>0.61199999999999999</c:v>
                </c:pt>
                <c:pt idx="4">
                  <c:v>0.505</c:v>
                </c:pt>
                <c:pt idx="5">
                  <c:v>0.45700000000000002</c:v>
                </c:pt>
                <c:pt idx="6">
                  <c:v>0.29499999999999998</c:v>
                </c:pt>
                <c:pt idx="7">
                  <c:v>-0.39500000000000002</c:v>
                </c:pt>
                <c:pt idx="8">
                  <c:v>-0.33700000000000002</c:v>
                </c:pt>
                <c:pt idx="9">
                  <c:v>-0.77800000000000002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B2A-4A59-B0AC-8016BC721F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7636684303350969E-2"/>
          <c:y val="4.8309178743961352E-2"/>
          <c:w val="0.98236331569664903"/>
          <c:h val="0.911433172302737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(pts)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43-4104-9D32-2E952A66B4DD}"/>
              </c:ext>
            </c:extLst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43-4104-9D32-2E952A66B4DD}"/>
              </c:ext>
            </c:extLst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43-4104-9D32-2E952A66B4DD}"/>
              </c:ext>
            </c:extLst>
          </c:dPt>
          <c:dPt>
            <c:idx val="3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43-4104-9D32-2E952A66B4DD}"/>
              </c:ext>
            </c:extLst>
          </c:dPt>
          <c:dPt>
            <c:idx val="4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43-4104-9D32-2E952A66B4DD}"/>
              </c:ext>
            </c:extLst>
          </c:dPt>
          <c:dPt>
            <c:idx val="5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243-4104-9D32-2E952A66B4DD}"/>
              </c:ext>
            </c:extLst>
          </c:dPt>
          <c:dPt>
            <c:idx val="6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243-4104-9D32-2E952A66B4DD}"/>
              </c:ext>
            </c:extLst>
          </c:dPt>
          <c:dPt>
            <c:idx val="7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243-4104-9D32-2E952A66B4DD}"/>
              </c:ext>
            </c:extLst>
          </c:dPt>
          <c:dPt>
            <c:idx val="8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243-4104-9D32-2E952A66B4DD}"/>
              </c:ext>
            </c:extLst>
          </c:dPt>
          <c:dPt>
            <c:idx val="9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243-4104-9D32-2E952A66B4D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41B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Deep Work Hours</c:v>
                </c:pt>
                <c:pt idx="1">
                  <c:v>Task Completion Rate</c:v>
                </c:pt>
                <c:pt idx="2">
                  <c:v>Concentration Score</c:v>
                </c:pt>
                <c:pt idx="3">
                  <c:v>Focus Sessions</c:v>
                </c:pt>
                <c:pt idx="4">
                  <c:v>Motivation Level</c:v>
                </c:pt>
                <c:pt idx="5">
                  <c:v>Workspace Quality</c:v>
                </c:pt>
                <c:pt idx="6">
                  <c:v>Work Satisfaction</c:v>
                </c:pt>
                <c:pt idx="7">
                  <c:v>Stress Level</c:v>
                </c:pt>
                <c:pt idx="8">
                  <c:v>Social Media Hours</c:v>
                </c:pt>
                <c:pt idx="9">
                  <c:v>Emotional Exhaustion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11.91</c:v>
                </c:pt>
                <c:pt idx="1">
                  <c:v>7.64</c:v>
                </c:pt>
                <c:pt idx="2">
                  <c:v>7.47</c:v>
                </c:pt>
                <c:pt idx="3">
                  <c:v>4.96</c:v>
                </c:pt>
                <c:pt idx="4">
                  <c:v>4.91</c:v>
                </c:pt>
                <c:pt idx="5">
                  <c:v>3.72</c:v>
                </c:pt>
                <c:pt idx="6">
                  <c:v>1.94</c:v>
                </c:pt>
                <c:pt idx="7">
                  <c:v>-2.93</c:v>
                </c:pt>
                <c:pt idx="8">
                  <c:v>-3.02</c:v>
                </c:pt>
                <c:pt idx="9">
                  <c:v>-3.9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243-4104-9D32-2E952A66B4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2CDF54-0F84-1D87-5C6C-5265FDFD0B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9D72C-E57F-0A28-71B0-3180E77606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8854C-0E81-426A-BC4F-A7914A7A8829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12D48-CF02-3215-30D2-6E4606A124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C71F8-249F-C67E-7CAF-6B60465F37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BF720-D175-490A-B79E-3BB10BBE6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270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94721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579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0546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5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57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5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0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30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15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91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87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30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264-9161-EFBA-B8DA-5E7DB3E50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10E13-56B8-FBB4-4CF8-8F1B605C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7C60-38A8-D010-2310-3BBF0B2A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49C2-B1CC-EA7C-B2CB-C364ECF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8A93-8106-78A8-DB5E-842706E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97534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67C6-02D0-F9E2-6192-4C857884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556C-A07C-3F5E-D499-9BDEDAC53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E23F-5D26-1928-933F-65BF7B42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CF35A-3E72-E3D4-2624-9E27F9B0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AFDC-F3E6-A937-4531-11354531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564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BD84-B7E9-CB69-D527-A7B6A19B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4B59-EACF-9048-B009-044AD388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08CB-1D7D-17DA-B7B9-BC2B008A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0C0DB-9EE7-DB64-A2EA-0F7A3443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FE0B-E343-F46B-96DF-507A188B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419783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E206-772A-0A31-6B81-FE97A106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7F1B-8015-956E-A5F4-24217F471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FB50C-B075-4E7B-B8FD-D1ECB7A8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DB42-E572-B388-EAA0-0D6921B1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F97A3-6100-7CC7-3A7C-ECE761D4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53613-DC82-30EB-1269-9854A519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4676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5159-5C07-C385-5925-63B1622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7115-072D-6C52-03D6-8E8B88F9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A4605-997D-D580-D51B-F38885687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22711-1FB9-5435-9909-AA7CD40B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4EF0D-5FBC-147B-BE99-A2F9B4235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D2DC3-57B9-6882-287F-45EA21E4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78514-B695-7923-27D0-B40DD54F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76515-0B02-A023-0BAF-D378E717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47194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05AA-A56F-E865-CB33-D289B9E7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166D-E2AE-3829-E33D-6FC305D6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65B92-7913-3366-FA51-3F76D77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29814-011D-9882-3FDA-9C1A421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5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10F44-29B3-2893-AE87-7AB5E576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F2299-F772-E4BC-51A3-735429C7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57C6-17E7-7313-1683-DB08DB20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4507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639C-2609-32EF-FC52-59B6905F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44AB-B4DC-003A-790C-6C1EB442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3109-EEA6-606B-57D9-9BA29C838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762A7-5345-1611-B6C1-480701F5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7A26-DACE-E36D-800D-2FFDD864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76AB-F658-B79B-7BA7-F31FCE06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765987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CC7C-8600-9666-168A-EDFB2CA6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5F0AB-A450-5914-4ECF-AC3D7C12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CFE23-CBAF-2E34-02EA-6686E456E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7329B-73E6-D2D2-E190-57A83CF7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86377-AE8F-83F0-C76A-E446657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1016-8BE5-22DA-9845-F29F610F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23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9C36-0BDA-D7F6-21F4-5AED9D8E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E65B1-1BB1-F988-086F-A82E684E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3DDB-3A7F-5AC5-70B4-48D24B1D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0D9C-3329-5E83-4734-41A87B41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5E7C7-57BB-82D3-F425-A35082C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13690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D222B-D4B7-CE58-692F-CB0F9903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7E6C9-3E3B-648F-64FA-754D07A1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CC60-BF5E-BE72-8702-4B3FBA60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69D2-AB39-43FA-5C81-0345D117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D513-1F23-5935-C074-B1F8473E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2868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5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264-9161-EFBA-B8DA-5E7DB3E50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10E13-56B8-FBB4-4CF8-8F1B605C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7C60-38A8-D010-2310-3BBF0B2A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49C2-B1CC-EA7C-B2CB-C364ECF8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8A93-8106-78A8-DB5E-842706E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81280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67C6-02D0-F9E2-6192-4C857884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556C-A07C-3F5E-D499-9BDEDAC53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E23F-5D26-1928-933F-65BF7B42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CF35A-3E72-E3D4-2624-9E27F9B0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AFDC-F3E6-A937-4531-11354531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325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BD84-B7E9-CB69-D527-A7B6A19B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4B59-EACF-9048-B009-044AD388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608CB-1D7D-17DA-B7B9-BC2B008A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0C0DB-9EE7-DB64-A2EA-0F7A3443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FE0B-E343-F46B-96DF-507A188B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77222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E206-772A-0A31-6B81-FE97A106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7F1B-8015-956E-A5F4-24217F471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FB50C-B075-4E7B-B8FD-D1ECB7A8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DB42-E572-B388-EAA0-0D6921B1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F97A3-6100-7CC7-3A7C-ECE761D4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53613-DC82-30EB-1269-9854A519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89388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5159-5C07-C385-5925-63B1622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7115-072D-6C52-03D6-8E8B88F95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A4605-997D-D580-D51B-F38885687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22711-1FB9-5435-9909-AA7CD40B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4EF0D-5FBC-147B-BE99-A2F9B4235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D2DC3-57B9-6882-287F-45EA21E4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78514-B695-7923-27D0-B40DD54F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76515-0B02-A023-0BAF-D378E717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65895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05AA-A56F-E865-CB33-D289B9E7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166D-E2AE-3829-E33D-6FC305D6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65B92-7913-3366-FA51-3F76D778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29814-011D-9882-3FDA-9C1A421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741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10F44-29B3-2893-AE87-7AB5E576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F2299-F772-E4BC-51A3-735429C7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57C6-17E7-7313-1683-DB08DB20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169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639C-2609-32EF-FC52-59B6905F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44AB-B4DC-003A-790C-6C1EB442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3109-EEA6-606B-57D9-9BA29C838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762A7-5345-1611-B6C1-480701F5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7A26-DACE-E36D-800D-2FFDD864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76AB-F658-B79B-7BA7-F31FCE06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625553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CC7C-8600-9666-168A-EDFB2CA6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5F0AB-A450-5914-4ECF-AC3D7C12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CFE23-CBAF-2E34-02EA-6686E456E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7329B-73E6-D2D2-E190-57A83CF7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86377-AE8F-83F0-C76A-E446657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1016-8BE5-22DA-9845-F29F610F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170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9C36-0BDA-D7F6-21F4-5AED9D8E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E65B1-1BB1-F988-086F-A82E684E8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3DDB-3A7F-5AC5-70B4-48D24B1D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0D9C-3329-5E83-4734-41A87B41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5E7C7-57BB-82D3-F425-A35082C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958123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D222B-D4B7-CE58-692F-CB0F9903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7E6C9-3E3B-648F-64FA-754D07A1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CC60-BF5E-BE72-8702-4B3FBA60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69D2-AB39-43FA-5C81-0345D117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D513-1F23-5935-C074-B1F8473E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443417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229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5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93145B4E-A73A-EB70-C3E2-10D9F8CA121F}"/>
              </a:ext>
            </a:extLst>
          </p:cNvPr>
          <p:cNvSpPr/>
          <p:nvPr userDrawn="1"/>
        </p:nvSpPr>
        <p:spPr>
          <a:xfrm>
            <a:off x="502920" y="6464067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79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0BAF-3548-25A8-7186-D8DD5BDD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6259-CF34-FC24-4855-42E08AD6F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99E8-1668-E26F-26A8-2EE78E6E2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A7A2-FCE3-CBF7-0A15-3772FD56A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4312-8620-FD94-6CCB-92E6D80A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744B7-C261-C694-D646-D5432B19FEC1}"/>
              </a:ext>
            </a:extLst>
          </p:cNvPr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5015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0BAF-3548-25A8-7186-D8DD5BDD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6259-CF34-FC24-4855-42E08AD6F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99E8-1668-E26F-26A8-2EE78E6E2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A7A2-FCE3-CBF7-0A15-3772FD56A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4312-8620-FD94-6CCB-92E6D80A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50D4B-0C8D-DDCD-2972-B72C41A0C1BC}"/>
              </a:ext>
            </a:extLst>
          </p:cNvPr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451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chart" Target="../charts/char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900672" y="721895"/>
            <a:ext cx="4785360" cy="2766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Burnout &amp; Workplace Productivity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r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Solution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943540" y="3487955"/>
            <a:ext cx="4611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to Reduce Digital Burnout Risk and Protect Workforce Productivity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943539" y="4022157"/>
            <a:ext cx="4611347" cy="0"/>
          </a:xfrm>
          <a:prstGeom prst="line">
            <a:avLst/>
          </a:prstGeom>
          <a:noFill/>
          <a:ln w="12700">
            <a:solidFill>
              <a:srgbClr val="322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5684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CE0452-BDC2-4A8C-41BF-7DBA68A05578}"/>
              </a:ext>
            </a:extLst>
          </p:cNvPr>
          <p:cNvSpPr txBox="1"/>
          <p:nvPr/>
        </p:nvSpPr>
        <p:spPr>
          <a:xfrm>
            <a:off x="6619291" y="5696944"/>
            <a:ext cx="5071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by Aakash Kumar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888EE0-63BD-BF45-59D6-06FA5A2D4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76"/>
          <a:stretch>
            <a:fillRect/>
          </a:stretch>
        </p:blipFill>
        <p:spPr>
          <a:xfrm>
            <a:off x="952501" y="583533"/>
            <a:ext cx="5209673" cy="4752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011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084832"/>
            <a:ext cx="26517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6072" y="2642616"/>
            <a:ext cx="250545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 Records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2011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2084832"/>
            <a:ext cx="26517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64992" y="2642616"/>
            <a:ext cx="250545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2011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084832"/>
            <a:ext cx="26517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53912" y="2642616"/>
            <a:ext cx="250545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Tracked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869680" y="2011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2084832"/>
            <a:ext cx="26517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942832" y="2642616"/>
            <a:ext cx="250545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Solution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703320"/>
            <a:ext cx="11155680" cy="2377440"/>
          </a:xfrm>
          <a:prstGeom prst="roundRect">
            <a:avLst>
              <a:gd name="adj" fmla="val 2308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88620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1.5 million logged employee-days spanning 7 occupations and 3 work modes, digital habits — screen time, notifications, doomscrolling, late-night device use — are quietly shaping how people work, sleep and cope. Organizations today have no systematic way to see this coming: screen-time, focus and wellbeing data sit disconnected from productivity outcomes, so HR and people-ops teams cannot tell which digital habits are eroding output, or intervene before burnout becomes attrition.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analytics solution — SQL validation, Python EDA, two predictive ML models and a 6-page Power BI dashboard — to close that gap.</a:t>
            </a:r>
            <a:endParaRPr lang="en-US" sz="12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B3B87ED-6145-24E5-311F-42FBF2AD0656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always-on digital workplace has quietly become one of the biggest risks to sustainable productivity.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2002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Overload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23682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average 209 notifications and 157 smartphone unlocks per day, fragmenting focus.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4242816" y="1828800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425696" y="2002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Debt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25696" y="23682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34.97% of employee-days show under 6 hours of sleep — a leading driver of chronic fatigue.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7982712" y="1828800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165592" y="2002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Doomscrolling &amp; App-Switching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165592" y="236829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 hrs/day of doomscrolling and heavy app-switching erode deep-work capacity across roles.</a:t>
            </a:r>
            <a:endParaRPr lang="en-US" sz="930" dirty="0"/>
          </a:p>
        </p:txBody>
      </p:sp>
      <p:sp>
        <p:nvSpPr>
          <p:cNvPr id="22" name="Shape 16"/>
          <p:cNvSpPr/>
          <p:nvPr/>
        </p:nvSpPr>
        <p:spPr>
          <a:xfrm>
            <a:off x="502920" y="3328416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85800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Burnout Risk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85800" y="38679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16.78% of records fall into high burnout risk, often with no visible productivity red flag yet.</a:t>
            </a:r>
            <a:endParaRPr lang="en-US" sz="930" dirty="0"/>
          </a:p>
        </p:txBody>
      </p:sp>
      <p:sp>
        <p:nvSpPr>
          <p:cNvPr id="27" name="Shape 20"/>
          <p:cNvSpPr/>
          <p:nvPr/>
        </p:nvSpPr>
        <p:spPr>
          <a:xfrm>
            <a:off x="4242816" y="3328416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5696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Exposure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425696" y="38679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is nearly flat across occupations, work modes and age bands — no group is immune.</a:t>
            </a:r>
            <a:endParaRPr lang="en-US" sz="930" dirty="0"/>
          </a:p>
        </p:txBody>
      </p:sp>
      <p:sp>
        <p:nvSpPr>
          <p:cNvPr id="32" name="Shape 24"/>
          <p:cNvSpPr/>
          <p:nvPr/>
        </p:nvSpPr>
        <p:spPr>
          <a:xfrm>
            <a:off x="7982712" y="3328416"/>
            <a:ext cx="3520440" cy="1224333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8165592" y="3502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at Stake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8165592" y="386791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state alone is linked to an 8.48-point drop in productivity score versus focused peers.</a:t>
            </a:r>
            <a:endParaRPr lang="en-US" sz="930" dirty="0"/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3E3C8C6B-B88A-C117-4477-BED4F34D166F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60857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Demographics, occupation &amp; digital-habit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screen time, sleep &amp; focus vs. productivity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workspace quality, meetings &amp; internet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burnout-risk probability to flag employees 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digital-wellness insight as a retention differentiator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Right-size meeting load, notifications &amp; remote-work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E9391168-B27B-49CF-DE09-E47023BDDCD0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6085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Scikit-learn, Matplotlib for EDA &amp; ML modeling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/ Scripted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cleaning, feature engineering, model training (Analysis.py)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(pickled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&amp; Linear Regression, persisted as .pkl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modeling, DAX measures, 6-page interactive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Publishing, scheduled refresh, cloud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storytelling, insights &amp; 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FFC9ABD7-7769-0D0D-EC38-F1ECDBDF1907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1.5M-row, 34-column employee-day log — organized here into 7 logical attribute groups.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0965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occupation, work_mode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Habit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daily_screen_time, notification_count, app_switch_frequency, doomscrolling_duration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Feature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&amp; Work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focus_sessions, deep_work_hours, task_completion_rate, concentration_score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Feature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&amp; Recovery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sleep_hours, sleep_quality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Feature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Psychological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stress_level, mental_fatigue, emotional_exhaustion, motivation_level, work_satisfaction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Wellbeing Indicator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 Context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workspace_quality, meeting_hours, internet_stability, remote_work_days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Feature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/ Target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mental_state, burnout_risk, productivity_score, productivity_category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Target / KPI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0">
            <a:extLst>
              <a:ext uri="{FF2B5EF4-FFF2-40B4-BE49-F238E27FC236}">
                <a16:creationId xmlns:a16="http://schemas.microsoft.com/office/drawing/2014/main" id="{921CACAE-8543-3BD0-41AA-08F9EC99CC44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70540"/>
              </p:ext>
            </p:extLst>
          </p:nvPr>
        </p:nvGraphicFramePr>
        <p:xfrm>
          <a:off x="502920" y="1417320"/>
          <a:ext cx="11155680" cy="4580422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 / work_mode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role (7 types) &amp; work arrangement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&amp; benchmarking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daily_screen_time / social_media_hours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daily screen time &amp; social usage (hrs)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Digital-habit exposure analysis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doomscrolling_duration / app_switch_frequency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scrolling time &amp; app-switch count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Attention-fragmentation analysis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notification_count / smartphone_unlocks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notifications &amp; phone unlocks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Interruption-load analysis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late_night_device_usage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for device use during late-night hours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Sleep-hygiene risk indicator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focus_sessions / deep_work_hours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Focus-session count &amp; hours of deep work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Productivity-capacity measurement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 / sleep_quality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slept &amp; self-rated sleep quality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&amp; fatigue-risk analysis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 / mental_fatigue / emotional_exhaustion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stress, fatigue &amp; exhaustion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burnout-driver indicators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mental_state / burnout_risk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category &amp; risk score (0-100)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wellbeing label &amp; ML target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productivity_score / productivity_category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score (0-100) &amp; tier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business outcome metric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6D90AA29-1EF2-3C87-E678-D5CFF0BC828B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16591"/>
              </p:ext>
            </p:extLst>
          </p:nvPr>
        </p:nvGraphicFramePr>
        <p:xfrm>
          <a:off x="502920" y="1463040"/>
          <a:ext cx="11155680" cy="329544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dataset is a single flat, person-day-level table — there is no relational schema to join; every analysis works directly off user_id + tracked day.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burnout_risk and productivity_score are the two computed outcome variables — they anchor both diagnostic correlations and both ML models.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mental_state (Focused / Balanced / Distracted / Burnout) is a 4-category label derived from the same underlying signals as burnout_risk, so the two move together.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Digital-habit columns (screen time, notifications, app-switching, doomscrolling) form the core behavioral feature set used across diagnostic and predictive analysis.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columns (sleep_hours, social_media_hours, deep_work_hours, motivation_level) carry ~2% nulls each, requiring median imputation before modeling.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duplicate user_id records and no invalid ages were found — the dataset passed structural integrity checks cleanly.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1.5M rows and 34 columns, the table is large enough for statistically robust correlation analysis and machine learning without sampling.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AF1F92BE-830A-42AD-98F1-25AACAA44EF3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multi-table relational schema, this is one flat log — the diagram below shows how its 34 columns logically group into features and outcomes.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394460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0864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86584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32404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78808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24528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Work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70348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16752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472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08292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54696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0416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46236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0" y="1783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5DEF7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38360" y="1783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Context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584180" y="2468880"/>
            <a:ext cx="0" cy="411480"/>
          </a:xfrm>
          <a:prstGeom prst="line">
            <a:avLst/>
          </a:prstGeom>
          <a:noFill/>
          <a:ln w="15875">
            <a:solidFill>
              <a:srgbClr val="C7D0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66160" y="2880360"/>
            <a:ext cx="5029200" cy="822960"/>
          </a:xfrm>
          <a:prstGeom prst="roundRect">
            <a:avLst>
              <a:gd name="adj" fmla="val 7778"/>
            </a:avLst>
          </a:prstGeom>
          <a:solidFill>
            <a:srgbClr val="241B4F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2880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EMPLOYEE-DAY RECORD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(1.5M rows × 34 columns)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80760" y="3703320"/>
            <a:ext cx="0" cy="411480"/>
          </a:xfrm>
          <a:prstGeom prst="line">
            <a:avLst/>
          </a:prstGeom>
          <a:noFill/>
          <a:ln w="19050">
            <a:solidFill>
              <a:srgbClr val="C7D0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94560" y="425196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2EC4B6"/>
          </a:solidFill>
          <a:ln/>
        </p:spPr>
      </p:sp>
      <p:sp>
        <p:nvSpPr>
          <p:cNvPr id="29" name="Text 26"/>
          <p:cNvSpPr/>
          <p:nvPr/>
        </p:nvSpPr>
        <p:spPr>
          <a:xfrm>
            <a:off x="2286000" y="4343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mental_state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228600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4-category wellbeing label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120640" y="425196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2EC4B6"/>
          </a:solidFill>
          <a:ln/>
        </p:spPr>
      </p:sp>
      <p:sp>
        <p:nvSpPr>
          <p:cNvPr id="32" name="Text 29"/>
          <p:cNvSpPr/>
          <p:nvPr/>
        </p:nvSpPr>
        <p:spPr>
          <a:xfrm>
            <a:off x="5212080" y="4343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burnout_risk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21208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 score → ML classifier target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046720" y="425196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2EC4B6"/>
          </a:solidFill>
          <a:ln/>
        </p:spPr>
      </p:sp>
      <p:sp>
        <p:nvSpPr>
          <p:cNvPr id="35" name="Text 32"/>
          <p:cNvSpPr/>
          <p:nvPr/>
        </p:nvSpPr>
        <p:spPr>
          <a:xfrm>
            <a:off x="8138160" y="4343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productivity_score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138160" y="4709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output score → ML regression target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outcome fields are the anchor for every diagnostic correlation, both predictive models, and all 6 Power BI dashboard pages.</a:t>
            </a:r>
            <a:endParaRPr lang="en-US" sz="1050" dirty="0"/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471FD126-C333-F548-B3AD-407135F0A8DD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&amp; Consistency Checks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03215"/>
              </p:ext>
            </p:extLst>
          </p:nvPr>
        </p:nvGraphicFramePr>
        <p:xfrm>
          <a:off x="502920" y="1554480"/>
          <a:ext cx="11155680" cy="2801555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Imported the 1.5M-row CSV extract into a validated Python analysis environment (Analysis.py).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schema — 34 columns, expected numeric vs. categorical data types confirmed for every field.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user_id for duplicates — zero duplicate records found across all 1.5 million rows.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numeric ranges — age (18–59) and all 0–100 / hour-based fields fall within plausible bounds.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Cross-checked categorical consistency — occupation, work_mode, device_usage_type and mental_state values matched their expected category lists with no stray labels.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logical consistency between burnout_risk, mental_state and productivity_score — labels move together as expected.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0">
            <a:extLst>
              <a:ext uri="{FF2B5EF4-FFF2-40B4-BE49-F238E27FC236}">
                <a16:creationId xmlns:a16="http://schemas.microsoft.com/office/drawing/2014/main" id="{76A98FFC-F7C1-73D7-DD2C-AAA146073D1C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Discrepancies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680960" cy="2514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social_media_hours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~2.00% null (≈30,000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deep_work_hours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~2.00% null (≈30,000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~2.01% null (≈30,150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motivation_level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~1.99% null (≈29,850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412480" y="164592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95360" y="18288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34 columns are affected, totaling 120,118 null values — no other column has any missing data.</a:t>
            </a:r>
            <a:endParaRPr lang="en-US" sz="105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07F488E9-A3CB-69BC-30BE-5AE620D21B3E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Discrepancies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344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Duplicate &amp; Structural Checks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310896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range confirmed 18–59 with no invalid, negative or zero values.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duplicate user_id rows found across all 1.5 million records.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burnout_risk, productivity_score, concentration_score, sleep_quality, workspace_quality and internet_stability all fall within their documented 0–100 / 0–10 scoring ranges.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Unlike a transactional banking log, this dataset carries no timestamp column — it required no date-format standardization, only null handling for the 4 flagged columns.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0">
            <a:extLst>
              <a:ext uri="{FF2B5EF4-FFF2-40B4-BE49-F238E27FC236}">
                <a16:creationId xmlns:a16="http://schemas.microsoft.com/office/drawing/2014/main" id="{75CE1C57-DD1C-2C2D-025F-B84AA45A98F1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</a:p>
        </p:txBody>
      </p:sp>
      <p:pic>
        <p:nvPicPr>
          <p:cNvPr id="14" name="Image 0" descr="assets/image6.png">
            <a:extLst>
              <a:ext uri="{FF2B5EF4-FFF2-40B4-BE49-F238E27FC236}">
                <a16:creationId xmlns:a16="http://schemas.microsoft.com/office/drawing/2014/main" id="{CE6988E5-A0FE-0397-147F-BC820B2E5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Data Cleaning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99595"/>
              </p:ext>
            </p:extLst>
          </p:nvPr>
        </p:nvGraphicFramePr>
        <p:xfrm>
          <a:off x="502920" y="1554480"/>
          <a:ext cx="11155680" cy="30175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the 4 null-prone columns using median values — robust to outliers and preserves distribution shape.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imputed values against the original distribution before finalizing the cleaned dataset.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categorical text (occupation, work_mode, device_usage_type) to consistent casing.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the raw CSV extract untouched; perform all cleaning in a derived working copy.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same cleaned dataset consistently across Python EDA, diagnostic analysis and ML model training.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the imputation logic in the analysis script for reproducibility (see Analysis.py).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0">
            <a:extLst>
              <a:ext uri="{FF2B5EF4-FFF2-40B4-BE49-F238E27FC236}">
                <a16:creationId xmlns:a16="http://schemas.microsoft.com/office/drawing/2014/main" id="{42E7B604-E562-945B-E122-FE90DDD69EDC}"/>
              </a:ext>
            </a:extLst>
          </p:cNvPr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Exploratory Data Analysis was to understand workforce demographics, digital-habit behavior, sleep patterns, mental-state distribution and productivity performance before performing diagnostic and predictive analysis.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7947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transformed the raw 1.5M-row log into meaningful business insights by identifying digital-habit patterns, sleep behavior and productivity trends that support the diagnostic analysis and both predictive models that follow.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Demographic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Age-Band Distribution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64208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Distribution (7 Roles)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126480" y="1664208"/>
          <a:ext cx="5623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 yrs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76072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319272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319272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18–59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392424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35624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35624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08776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(~14.3% each)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951976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951976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025128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Found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Demographic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workforce spans ages 18–59 with a mean age of 38.5 — a broad, multi-generational population, not concentrated in one life stage.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46–59 is the largest single age band (33.3%), followed by a near-even 26–35 / 36–45 split (~23.8% each).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occupations are represented almost equally (14.20–14.35% each) — this is a balanced, stratified sample, not skewed toward one job type.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 both age and occupation are evenly spread, later differences in burnout risk or productivity across these groups can be attributed to behavior, not a sampling artifact.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occupation and age purely as reporting filters in the dashboard — this analysis shows neither should be used to target interventions.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Work-Mode &amp; Device Usage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Work-Mode Split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664208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Usage Type Split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63640" y="1664208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459943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44.98%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76072" y="515721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Share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261104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61104" y="459943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71.39–71.54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334256" y="515721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Range (All Modes)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019288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19288" y="459943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35.02%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92440" y="515721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Device Usage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292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 ·  FINAL PROJECT REPORT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Work-Mode &amp; Device Usage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work is the dominant arrangement (44.98% of employee-days), followed by Hybrid (34.95%) and Office (20.06%) — this is a remote-first workforce.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usage splits almost evenly across Balanced, Work-Centric and Entertainment-Centric patterns (30–35% each) — no single usage style dominates.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productivity holds flat across all 3 work modes (71.39–71.54) — confirming work location is not, by itself, a meaningful productivity lever.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with the demographic finding, this shows policy decisions about remote/hybrid/office mix should be based on burnout &amp; productivity data — not assumption.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future work-mode policy changes against these baseline figures rather than assuming remote or office work is inherently riskier.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Digital-Habit Load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810512"/>
            <a:ext cx="21488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 hrs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6072" y="2423160"/>
            <a:ext cx="20025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Screen Time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43200" y="17373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1810512"/>
            <a:ext cx="21488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209.35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816352" y="2423160"/>
            <a:ext cx="20025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Notifications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4983480" y="17373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810512"/>
            <a:ext cx="21488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157.06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56632" y="2423160"/>
            <a:ext cx="20025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Smartphone Unlocks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223760" y="17373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1810512"/>
            <a:ext cx="21488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129.57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296912" y="2423160"/>
            <a:ext cx="20025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App-Switch Frequency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9464040" y="17373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64040" y="1810512"/>
            <a:ext cx="21488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1.83 hrs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37192" y="2423160"/>
            <a:ext cx="20025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Doomscrolling Duration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5029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Doomscrolling Duration — Top Quartile vs. Rest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3520440"/>
          <a:ext cx="55778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6263640" y="320040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492240" y="37033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26.63% of employee-days cross 2.6+ hours of daily doomscrolling — the 75th-percentile threshold. This segment is examined in detail in the Diagnostic Analysis section, where it shows a measurably higher average burnout-risk score.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5178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average 8 hours of daily screen time, 209 notifications and 157 phone unlocks — a highly fragmented digital day.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Doomscrolling averages 1.83 hrs/day, with the top quartile (26.63% of employee-days) crossing 2.6+ hours.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App-switch frequency averages ~130/day but shows almost no linear relationship with burnout risk on its own (r ≈ -0.001) — it is a symptom of fragmentation, not a standalone driver.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These habits are uniform across occupations and work modes — digital exposure is a workplace-wide pattern, not a team-specific 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notification batching and doomscrolling-focused nudges over app-switching controls — they show the stronger individual link to burnout risk.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Sleep-Hours Distribution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64208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371600"/>
            <a:ext cx="5394960" cy="3035808"/>
          </a:xfrm>
          <a:prstGeom prst="roundRect">
            <a:avLst>
              <a:gd name="adj" fmla="val 1807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LATE-NIGHT USAGE SNAPSHOT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922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6.50 hrs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Sleep Hours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9224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/ 10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Sleep Quality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9224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65.00%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Device Usage Rate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34.97%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76072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Sleep-Deficit Rate (&lt;6 hrs)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64992" y="470916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64992" y="4782312"/>
            <a:ext cx="27249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21.07%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438144" y="5340096"/>
            <a:ext cx="25786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Healthy 7-8hr Band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34.97% of employee-days show under 6 hours of sleep — the single largest band, well above the 6-7hr band (27.61%).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sleep quality sits at 5.5/10 — a mediocre, not catastrophic, baseline that still leaves clear room for improvement.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of employee-days include late-night device usage — nearly two-thirds of the workforce is cutting into recovery time with screens.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 correlate negatively with burnout risk (r = -0.13) — a real but comparatively modest protective effect versus digital-habit intensity.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device wind-down / sleep-hygiene pilot targeting the 65% late-night-usage population — the largest single behavioral segment identified in this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State &amp; Burnout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Mental-State Mix (4 Categories)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664208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Snapshot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63640" y="16642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63640" y="173736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48.58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36792" y="2432304"/>
            <a:ext cx="25054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(0–100)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9006840" y="166420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006840" y="173736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16.78%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079992" y="2432304"/>
            <a:ext cx="25054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 Rate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63640" y="308152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3640" y="315468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251,636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336792" y="3849624"/>
            <a:ext cx="25054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Employee-Days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06840" y="3081528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06840" y="315468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19.98%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9079992" y="3849624"/>
            <a:ext cx="25054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"Burnout" State Share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457200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4572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→ 75.00   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  </a:t>
            </a: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→ 66.52   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productivity score — an 8.48-point gap between the best and worst mental-state groups.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State &amp; Burnout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Distracted is the most common mental state (30.03%), followed by a near-even Focused/Balanced split (~25% each) and Burnout at 19.98%.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burnout-risk score sits at 48.58/100, with 16.78% of employee-days (251,636 records) crossing the high-risk threshold (&gt;70).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employees outproduce Burnout employees by 8.48 points on average (75.00 vs. 66.52) — the mental-state label tracks a real, material productivity difference.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1 in 5 employee-days is in an active Burnout state — a population large enough to justify a dedicated monitoring and intervention program.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"Distracted" and "Burnout" (50% of all employee-days combined) as the two priority mental-state segments for proactive people-ops attention.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DESCRIPTIVE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Category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02920" y="146304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10512"/>
          <a:ext cx="5394960" cy="274320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half of all employee-days (47.49%) fall in the High productivity tier, while 16.79% fall in Low.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between High and Low tiers is the clearest opportunity — moving even a fraction of the Low-tier population upward has an outsized impact at 1.5M-record scale.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category aligns closely with mental state and burnout risk, confirming these are different views of the same underlying wellbeing signal rather than independent metrics.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31520" y="4892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Low-productivity tier (16.79%, ~251,700 records) as the primary target population for the productivity-driver interventions covered later in this report.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Analysis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it happening?” — six root-cause questions tested against the descriptive patterns above.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848398"/>
              </p:ext>
            </p:extLst>
          </p:nvPr>
        </p:nvGraphicFramePr>
        <p:xfrm>
          <a:off x="502920" y="1600200"/>
          <a:ext cx="11155680" cy="4433639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Performed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employee-days show excessive doomscrolling?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Top-quartile threshold comparison (≥ 2.6 hrs/day)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High-Doomscroll Burnout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prevalent is high burnout risk workforce-wide?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Burnout-risk threshold analysis (&gt;70)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Burnout Risk Rate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specific occupations carry more burnout risk?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 vs. high-risk-rate comparison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Penetration Rate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late-night device use elevate burnout risk?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Late-night usage vs. burnout-risk comparison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Late-Night Risk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there disengaged, low-focus employees?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Deep-work &amp; focus-session thresholding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Low-Engagement Productivity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age affect burnout or productivity outcomes?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Age-band trend analysis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Age-Band Trend Spread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Doomscrolling Ratio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— High vs. Low Doomscrolling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91640"/>
          <a:ext cx="55778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371600"/>
            <a:ext cx="5394960" cy="4709160"/>
          </a:xfrm>
          <a:prstGeom prst="roundRect">
            <a:avLst>
              <a:gd name="adj" fmla="val 1165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92240" y="19202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7.76 points</a:t>
            </a:r>
            <a:endParaRPr lang="en-US" sz="2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burnout risk for the top-quartile doomscrolling group.
</a:t>
            </a: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0.201  </a:t>
            </a: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doomscrolling duration and burnout risk — one of the strongest single digital-habit signals in the dataset.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Doomscrolling Ratio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170078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top quartile of doomscrolling (≥ 2.6 hrs/day, 26.63% of employee-days) shows an average burnout risk of 54.28 — nearly 8 points higher than the remaining 73.37% (46.52).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Doomscrolling duration correlates positively with burnout risk (r = 0.20) — one of the strongest single digital-habit signals in the dataset, ahead of app-switch frequency (r ≈ -0.001).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a clean, actionable segment: roughly 1 in 4 employee-days, identifiable directly from a single behavioral metric.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9417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69417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support the ~27% of employee-days crossing the high-doomscroll threshold with targeted digital-wellness nudges — this is the single highest-precision behavioral segment found in the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Risk Prevalence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73736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10512"/>
            <a:ext cx="2724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48.58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6072" y="2505456"/>
            <a:ext cx="257860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Score (0–100)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19272" y="173736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9272" y="1810512"/>
            <a:ext cx="2724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16.78%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392424" y="2505456"/>
            <a:ext cx="257860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 Rate (&gt;70)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35624" y="173736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35624" y="1810512"/>
            <a:ext cx="2724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251,636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208776" y="2505456"/>
            <a:ext cx="257860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Employee-Days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951976" y="173736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51976" y="1810512"/>
            <a:ext cx="2724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19.98%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025128" y="2505456"/>
            <a:ext cx="257860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"Burnout" Mental-State Share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High-Risk Rate by Occupation — Essentially Flat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3611880"/>
          <a:ext cx="113385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4" name="Image 0" descr="assets/image6.png">
            <a:extLst>
              <a:ext uri="{FF2B5EF4-FFF2-40B4-BE49-F238E27FC236}">
                <a16:creationId xmlns:a16="http://schemas.microsoft.com/office/drawing/2014/main" id="{CBACA5DD-50B8-5A48-F345-0D558C542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Risk Prevalence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170078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6 employee-days (16.78%, ~251,636 records) crosses the high burnout-risk threshold — a population large enough to require a systematic monitoring process, not ad hoc review.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rate is consistent regardless of occupation, ranging only 16.66%–16.85% across all 7 roles — a spread of just 0.19 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confirms burnout-risk exposure is workplace-wide rather than concentrated in a specific team, department or role.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9417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69417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ML classifier (90.4% ROC-AUC, detailed in the Predictive Analytics section) to continuously score and flag this population for HR review.</a:t>
            </a:r>
            <a:endParaRPr lang="en-US" sz="1050" dirty="0"/>
          </a:p>
        </p:txBody>
      </p:sp>
      <p:pic>
        <p:nvPicPr>
          <p:cNvPr id="13" name="Image 0" descr="assets/image6.png">
            <a:extLst>
              <a:ext uri="{FF2B5EF4-FFF2-40B4-BE49-F238E27FC236}">
                <a16:creationId xmlns:a16="http://schemas.microsoft.com/office/drawing/2014/main" id="{5DEE4D80-F4FB-6129-9A4B-EB7CB808A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Occupation-Wise Risk Penetration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Employee-Day Count by Occupation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91640"/>
          <a:ext cx="113385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70916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typical “penetration” analysis where one segment stands out, the finding here is the opposite: high-risk record counts differ by less than 550 out of ~36,000 per occupation — burnout risk does not concentrate anywhere.</a:t>
            </a:r>
            <a:endParaRPr lang="en-US" sz="1150" dirty="0"/>
          </a:p>
        </p:txBody>
      </p:sp>
      <p:pic>
        <p:nvPicPr>
          <p:cNvPr id="16" name="Image 0" descr="assets/image7.png">
            <a:extLst>
              <a:ext uri="{FF2B5EF4-FFF2-40B4-BE49-F238E27FC236}">
                <a16:creationId xmlns:a16="http://schemas.microsoft.com/office/drawing/2014/main" id="{23D1A031-A570-F2BE-FCB2-9B125B272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Occupation-Wise Risk Penetration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170078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employee-day counts range from 35,684 (Software Engineer) to 36,201 (Designer) — a spread of just 517 records out of ~36,000 per occupation.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rate itself ranges only 16.66%–16.85% — statistically indistinguishable across roles at this scale.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mirrors the age-band and work-mode findings: none of the standard demographic or role-based segments explain burnout-risk variation in this workforce.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9417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69417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digital-wellness support evenly across all roles rather than targeting by job title — role-based targeting would miss the vast majority of at-risk employees.</a:t>
            </a:r>
            <a:endParaRPr lang="en-US" sz="1050" dirty="0"/>
          </a:p>
        </p:txBody>
      </p:sp>
      <p:pic>
        <p:nvPicPr>
          <p:cNvPr id="15" name="Image 0" descr="assets/image7.png">
            <a:extLst>
              <a:ext uri="{FF2B5EF4-FFF2-40B4-BE49-F238E27FC236}">
                <a16:creationId xmlns:a16="http://schemas.microsoft.com/office/drawing/2014/main" id="{B884D805-B911-8D2C-8220-DB6ECE600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Late-Night Device Usage Impact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— Late-Night Usage vs. None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9164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Hours — Late-Night Usage vs. None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126480" y="1691640"/>
          <a:ext cx="5623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470916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478231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65.00%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76072" y="534009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Usage Rate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261104" y="470916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61104" y="478231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+7.37 pts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334256" y="534009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Gap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019288" y="470916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19288" y="4782312"/>
            <a:ext cx="363931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 hrs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92440" y="5340096"/>
            <a:ext cx="349300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Sleep-Hours Gap</a:t>
            </a:r>
            <a:endParaRPr lang="en-US" sz="900" dirty="0"/>
          </a:p>
        </p:txBody>
      </p:sp>
      <p:pic>
        <p:nvPicPr>
          <p:cNvPr id="23" name="Image 0" descr="assets/image4.png">
            <a:extLst>
              <a:ext uri="{FF2B5EF4-FFF2-40B4-BE49-F238E27FC236}">
                <a16:creationId xmlns:a16="http://schemas.microsoft.com/office/drawing/2014/main" id="{C4008A53-146B-E806-4771-346097C92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Late-Night Device Usage Impact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170078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of employee-days include late-night device usage, and that group shows a 7.37-point higher average burnout risk (51.16 vs. 43.79) than employees without late-night usage.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 are nearly identical whether or not late-night usage occurs (6.50 hrs either way) — late-night usage appears linked to burnout through a pathway other than simple sleep duration (e.g. sleep quality, timing, or evening stress).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makes late-night usage a distinct behavioral signal from the sleep-deficit finding earlier — both matter, but they are not the same lever.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9417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69417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late-night device usage as its own KPI, separate from total sleep hours — a wind-down nudge should target usage timing, not just sleep duration.</a:t>
            </a:r>
            <a:endParaRPr lang="en-US" sz="1050" dirty="0"/>
          </a:p>
        </p:txBody>
      </p:sp>
      <p:pic>
        <p:nvPicPr>
          <p:cNvPr id="13" name="Image 0" descr="assets/image4.png">
            <a:extLst>
              <a:ext uri="{FF2B5EF4-FFF2-40B4-BE49-F238E27FC236}">
                <a16:creationId xmlns:a16="http://schemas.microsoft.com/office/drawing/2014/main" id="{8033AE66-DB59-99EF-367E-2474521C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Employee-days with both minimal deep-work hours (&lt;1 hr) and near-zero focus sessions (≤1) — a distinct disengagement signature.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856232"/>
            <a:ext cx="272491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76072" y="2523744"/>
            <a:ext cx="257860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Employee-Days Are “Disengaged”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19272" y="178308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1856232"/>
            <a:ext cx="272491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43.33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392424" y="2523744"/>
            <a:ext cx="257860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— Disengaged Group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35624" y="178308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5624" y="1856232"/>
            <a:ext cx="272491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72.17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208776" y="2523744"/>
            <a:ext cx="257860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— Everyone Else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951976" y="1783080"/>
            <a:ext cx="2724912" cy="1234440"/>
          </a:xfrm>
          <a:prstGeom prst="roundRect">
            <a:avLst>
              <a:gd name="adj" fmla="val 5926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51976" y="1856232"/>
            <a:ext cx="272491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28.84 pts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025128" y="2523744"/>
            <a:ext cx="257860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 (Largest Found)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993467"/>
              </p:ext>
            </p:extLst>
          </p:nvPr>
        </p:nvGraphicFramePr>
        <p:xfrm>
          <a:off x="502920" y="3639312"/>
          <a:ext cx="11155680" cy="130149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2.49% of employee-days show both very low deep-work hours and minimal focus sessions — a small but sharply distinct “disengaged” segment.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segment's average productivity score is 43.33 vs. 72.17 for everyone else — a 28.84-point gap, the single largest productivity gap found in the entire analysis.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Unlike burnout state, this disengaged segment is not concentrated in the “Burnout” mental-state label (still only ~20% Burnout) — current mental-state tagging alone would miss most of this group.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02920" y="5298948"/>
            <a:ext cx="11155680" cy="704088"/>
          </a:xfrm>
          <a:prstGeom prst="roundRect">
            <a:avLst>
              <a:gd name="adj" fmla="val 8000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1520" y="5298948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deep-work hours and focus-session counts directly as a standing KPI — not just burnout-risk score — to catch this specific disengagement pattern.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&amp; Productivity Trend Analysis (1/2)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66704" y="377952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by Age Band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69164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Score by Age Band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126480" y="1691640"/>
          <a:ext cx="5623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470916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are essentially flat: burnout risk spans just 0.10 points (48.51–48.61) and productivity spans just 0.09 points (71.43–71.52) across all 4 age bands.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0292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 ·  FINAL PROJECT REPORT</a:t>
            </a:r>
            <a:endParaRPr lang="en-US" sz="800" dirty="0"/>
          </a:p>
        </p:txBody>
      </p:sp>
      <p:pic>
        <p:nvPicPr>
          <p:cNvPr id="16" name="Image 0" descr="assets/image8.png">
            <a:extLst>
              <a:ext uri="{FF2B5EF4-FFF2-40B4-BE49-F238E27FC236}">
                <a16:creationId xmlns:a16="http://schemas.microsoft.com/office/drawing/2014/main" id="{3EF85C9B-836D-5500-6AD6-2C2F4FF1C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720" y="50596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DIAGNOSTIC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&amp; Productivity Trend Analysis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170078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burnout risk is virtually identical across all 4 age bands (48.51–48.61) — a spread of just 0.10 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score shows the same flat pattern (71.43–71.52) — age is not a meaningful predictor of either outcome in this workforce.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with the occupation and work-mode findings, this reinforces the project's core thesis: burnout and productivity are driven by digital habits and behavior, not demographic or role attributes.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9417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69417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any wellness or productivity intervention to be behavior-targeted (screen time, sleep, deep work) rather than age- or tenure-targeted.</a:t>
            </a:r>
            <a:endParaRPr lang="en-US" sz="1050" dirty="0"/>
          </a:p>
        </p:txBody>
      </p:sp>
      <p:pic>
        <p:nvPicPr>
          <p:cNvPr id="13" name="Image 0" descr="assets/image8.png">
            <a:extLst>
              <a:ext uri="{FF2B5EF4-FFF2-40B4-BE49-F238E27FC236}">
                <a16:creationId xmlns:a16="http://schemas.microsoft.com/office/drawing/2014/main" id="{A3EEC765-A1BD-F6D3-F4C5-4E8D36F2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50596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(1/3) — Objective &amp;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burnout risk and productivity score directly from digital-habit and wellbeing signals, enabling proactive HR intervention and policy simulation before problems surface in output.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DEPLOYED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926080"/>
            <a:ext cx="5468112" cy="1600200"/>
          </a:xfrm>
          <a:prstGeom prst="roundRect">
            <a:avLst>
              <a:gd name="adj" fmla="val 4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09067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639312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Logistic Regression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4005072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employee-day as High Burnout Risk or not, from 26 numeric + 3 categorical features.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190488" y="2926080"/>
            <a:ext cx="5468112" cy="1600200"/>
          </a:xfrm>
          <a:prstGeom prst="roundRect">
            <a:avLst>
              <a:gd name="adj" fmla="val 4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3368" y="309067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mage 2" descr="assets/image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095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3639312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Linear Regression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73368" y="4005072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continuous productivity_score (0–100) from the same feature set.</a:t>
            </a:r>
            <a:endParaRPr lang="en-US" sz="930" dirty="0"/>
          </a:p>
        </p:txBody>
      </p:sp>
      <p:sp>
        <p:nvSpPr>
          <p:cNvPr id="19" name="Text 14"/>
          <p:cNvSpPr/>
          <p:nvPr/>
        </p:nvSpPr>
        <p:spPr>
          <a:xfrm>
            <a:off x="5029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WORKFLOW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507492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41B4F"/>
          </a:solidFill>
          <a:ln/>
        </p:spPr>
      </p:sp>
      <p:sp>
        <p:nvSpPr>
          <p:cNvPr id="21" name="Text 16"/>
          <p:cNvSpPr/>
          <p:nvPr/>
        </p:nvSpPr>
        <p:spPr>
          <a:xfrm>
            <a:off x="576072" y="50749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 numeric + 3 categorical)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34056" y="507492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41B4F"/>
          </a:solidFill>
          <a:ln/>
        </p:spPr>
      </p:sp>
      <p:sp>
        <p:nvSpPr>
          <p:cNvPr id="23" name="Text 18"/>
          <p:cNvSpPr/>
          <p:nvPr/>
        </p:nvSpPr>
        <p:spPr>
          <a:xfrm>
            <a:off x="2807208" y="50749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(80/20, stratified)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965192" y="507492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41B4F"/>
          </a:solidFill>
          <a:ln/>
        </p:spPr>
      </p:sp>
      <p:sp>
        <p:nvSpPr>
          <p:cNvPr id="25" name="Text 20"/>
          <p:cNvSpPr/>
          <p:nvPr/>
        </p:nvSpPr>
        <p:spPr>
          <a:xfrm>
            <a:off x="5038344" y="50749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(scaling + one-hot encode)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196328" y="507492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41B4F"/>
          </a:solidFill>
          <a:ln/>
        </p:spPr>
      </p:sp>
      <p:sp>
        <p:nvSpPr>
          <p:cNvPr id="27" name="Text 22"/>
          <p:cNvSpPr/>
          <p:nvPr/>
        </p:nvSpPr>
        <p:spPr>
          <a:xfrm>
            <a:off x="7269480" y="50749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+ Linear)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9427464" y="507492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2EC4B6"/>
          </a:solidFill>
          <a:ln/>
        </p:spPr>
      </p:sp>
      <p:sp>
        <p:nvSpPr>
          <p:cNvPr id="29" name="Text 24"/>
          <p:cNvSpPr/>
          <p:nvPr/>
        </p:nvSpPr>
        <p:spPr>
          <a:xfrm>
            <a:off x="9500616" y="50749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(metrics + coefficients)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(2/3) — Burnout-Risk Classifier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447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80.96%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072" y="192024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06624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06624" y="14447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46.26%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79776" y="192024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10328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328" y="14447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83.42%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83480" y="192024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14032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032" y="14447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187184" y="192024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31773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17736" y="14447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390888" y="192024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2331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— 20% split (n = 300,000), stratified · random_state = 42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17520"/>
          <a:ext cx="5404104" cy="15544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High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High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200,902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02920" y="48920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deliberately trades precision for recall — it over-flags to make sure real burnout cases reach HR review, not to auto-decide.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263640" y="2697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Standardized Coefficients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080760" y="2999232"/>
          <a:ext cx="56235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(3/3) — Productivity Predictor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3716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44752"/>
            <a:ext cx="35661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0.798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76072" y="1975104"/>
            <a:ext cx="341985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(Variance Explained)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78808" y="13716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78808" y="1444752"/>
            <a:ext cx="35661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7.66 pts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251960" y="1975104"/>
            <a:ext cx="341985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854696" y="13716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54696" y="1444752"/>
            <a:ext cx="35661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9.66 pts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27848" y="1975104"/>
            <a:ext cx="341985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2450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— 20% split (n = 300,000) · random_state = 42 · productivity_score is a 0–100 scale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2834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Standardized Coefficients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671678768"/>
              </p:ext>
            </p:extLst>
          </p:nvPr>
        </p:nvGraphicFramePr>
        <p:xfrm>
          <a:off x="320040" y="3127248"/>
          <a:ext cx="57607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4"/>
          <p:cNvSpPr/>
          <p:nvPr/>
        </p:nvSpPr>
        <p:spPr>
          <a:xfrm>
            <a:off x="6446520" y="2834640"/>
            <a:ext cx="5239512" cy="3383280"/>
          </a:xfrm>
          <a:prstGeom prst="roundRect">
            <a:avLst>
              <a:gd name="adj" fmla="val 1481"/>
            </a:avLst>
          </a:prstGeom>
          <a:solidFill>
            <a:srgbClr val="F5F3FB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675120" y="333756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hour of Deep Work is associated with roughly +11.9 points of productivity score — nearly triple the next-largest driver.
Emotional Exhaustion and Social Media Hours are the strongest drags, echoing the burnout classifier's own findings.
R² = 0.80 means digital-habit and wellbeing signals alone explain about 4 out of every 5 points of variation in productivity.</a:t>
            </a:r>
            <a:endParaRPr lang="en-US" sz="1030" dirty="0"/>
          </a:p>
        </p:txBody>
      </p:sp>
      <p:pic>
        <p:nvPicPr>
          <p:cNvPr id="25" name="Image 0" descr="assets/image20.png">
            <a:extLst>
              <a:ext uri="{FF2B5EF4-FFF2-40B4-BE49-F238E27FC236}">
                <a16:creationId xmlns:a16="http://schemas.microsoft.com/office/drawing/2014/main" id="{A02BDC4D-C0FB-15B7-ED45-9BE454BD6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Logistic Regression?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362102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map directly to business drivers HR can act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the High-Risk / Not-High-Risk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and scores 1.5M rows in seconds, enabling daily re-scoring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Class-Weight Balancing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the ~17% high-risk imbalance without synthetic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Enough to 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to HR &amp; compliance stakeholders, unlike a black-box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PREDICTIVE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Linear Regression?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362102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Coefficients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exactly how many points a habit change moves productivity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Training &amp;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cleanly to 1.5M rows for workforce-wide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Simulation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teams model the productivity impact of a policy before 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Transparent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0.798 sets a benchmark before trying ensemble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Black-Box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communicate and defend to non-technical stakeholders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6-page interactive executive &amp; people-ops digital-wellbeing dashboard, built on the same cleaned 1.5M-row dataset.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Executive 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5146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tracked, avg burnout risk, avg productivity, high-risk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42816" y="18288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25696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Occupation &amp; Work-Mode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25696" y="25146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&amp; productivity benchmarks across 7 roles and Remote/Hybrid/Office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82712" y="18288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65592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Digital Habit Explorer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65592" y="25146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time, notifications, doomscrolling &amp; app-switching patterns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410565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2885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Sleep &amp; Recovery Monitor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4791456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Sleep-hours distribution, sleep-quality, late-night usage tracking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42816" y="410565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25696" y="42885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Burnout Risk Monitor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425696" y="4791456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Burnout-risk distribution, mental-state mix, high-risk employee watchlist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82712" y="410565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65592" y="42885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Productivity Driver Analysis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65592" y="4791456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view of digital habits, sleep &amp; stress against productivity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employee-days at a glance — avg burnout risk 48.58, avg productivity 71.46, 16.8% high-risk rate.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BDC362A9-27E4-4961-B001-E8564217B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11155680" cy="22677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tracks 1.5M employee-days with an average burnout-risk score of 48.58 and average productivity score of 71.46.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16.78% of employee-days cross the high-burnout-risk threshold, representing roughly 251,600 records requiring attention.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state splits across 4 categories with Distracted leading at 30.0%, followed by Focused (25.0%), Balanced (25.0%) and Burnout (20.0%).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high-risk employee watchlist table lets HR drill directly into the specific records driving the aggregate risk numbers.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page as the weekly executive check-in view — track the 3 headline KPIs and the high-risk watchlist count as a standing agenda item.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FB61AAE1-FA01-2A83-D0B1-69AC6605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&amp; Work-Mode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holds flat (71.39–71.54) across all 7 occupations and all 3 work modes.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C3EF2197-EFE0-7A69-E050-F58222248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&amp; Work-Mode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814551"/>
              </p:ext>
            </p:extLst>
          </p:nvPr>
        </p:nvGraphicFramePr>
        <p:xfrm>
          <a:off x="502920" y="1764792"/>
          <a:ext cx="11155680" cy="171907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productivity holds within a narrow 71.39–71.54 band across all 7 occupations — confirming role does not meaningfully change output.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 risk is similarly flat (48.50–48.65) across occupations, a spread of just 0.15 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work is the dominant arrangement at 44.98% of employee-days, followed by Hybrid (34.95%) and Office (20.06%).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occupation nor work mode shows a standout high-risk or high-productivity segment.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segment digital-wellness programs by job title or work mode — apply support workforce-wide instead.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CA258FFA-0DF8-4B16-8840-C9AEDD94A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3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Explorer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(8.0 hrs), notifications (209/day) and app-switching (130/day) are uniform across occupations.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ABD9E9E3-938F-1F9D-3D92-EC84C270A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3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Explorer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22348"/>
              </p:ext>
            </p:extLst>
          </p:nvPr>
        </p:nvGraphicFramePr>
        <p:xfrm>
          <a:off x="502920" y="1764792"/>
          <a:ext cx="11155680" cy="166420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daily screen time is a consistent 8.0 hours across every occupation, alongside ~209 notifications and ~130 app-switches per day.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Doomscrolling duration averages 1.83 hours, with the top quartile (26.6% of records) crossing 2.6+ hours and showing a 7.8-point higher average burnout risk.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usage type splits nearly evenly across Balanced (35.0%), Work-Centric (35.0%) and Entertainment-Centric (30.0%) patterns.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These digital-habit metrics are uniform across occupations — this is a workplace-wide pattern, not a team-specific 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notification load and doomscrolling directly through policy (batching, screen-time nudges) rather than role-based programs.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C48CBE16-10D5-4886-F4ED-664874F32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4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Monitor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late-night device usage and a 34.97% sleep-deficit rate make sleep hygiene a clear lever.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18C378E3-545A-276D-B003-365DBB028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4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Monitor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8353"/>
              </p:ext>
            </p:extLst>
          </p:nvPr>
        </p:nvGraphicFramePr>
        <p:xfrm>
          <a:off x="502920" y="1764792"/>
          <a:ext cx="11155680" cy="181568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34.97% of employee-days show under 6 hours of sleep, the largest single sleep band in the distribution.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sleep quality sits at 5.5/10 and average sleep hours at 6.5 — both indicate room for improvement, not crisis levels.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of employee-days include late-night device usage, and that group shows a 7.4-point higher average burnout risk (51.16 vs. 43.79) than employees without late-night usage.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 are similar whether or not late-night usage occurs (6.5 hrs either way) — late-night usage appears linked to burnout through a pathway other than simple sleep duration.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device wind-down / sleep-hygiene pilot targeting the 65% late-night-usage population, and track its impact on burnout risk specifically.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629B8AAD-3207-7C1A-322D-A74FF0E1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Risk Monitor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an active "Burnout" mental state carry visibly higher average burnout-risk scores.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0606F070-734B-44A2-61F8-EEC9A4BC9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Risk Monitor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57851"/>
              </p:ext>
            </p:extLst>
          </p:nvPr>
        </p:nvGraphicFramePr>
        <p:xfrm>
          <a:off x="502920" y="1764792"/>
          <a:ext cx="11155680" cy="166420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burnout risk sits at 48.58/100 with 16.78% of employee-days in the high-risk tier.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in an active "Burnout" mental state show a visibly higher average burnout-risk score than any other mental-state group, confirming label consistency.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Burnout mental state accounts for 19.98% of all employee-days — roughly 1 in 5.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of the 4 mental-state categories (Distracted + Burnout) can be considered “at-risk,” reinforcing the case for proactive monitoring.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ML burnout classifier (90.4% ROC-AUC) against this page's watchlist so flags route straight into an HR review queue.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BD283783-8179-4378-B6BC-A8BE4BA80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Driver Analysis Dashboard (1/2)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Hours (+0.52) and Burnout Risk (-0.48) are the two highest-impact correlated features.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295248" y="1600200"/>
            <a:ext cx="9601200" cy="5590398"/>
          </a:xfrm>
          <a:prstGeom prst="roundRect">
            <a:avLst>
              <a:gd name="adj" fmla="val 491"/>
            </a:avLst>
          </a:prstGeom>
          <a:solidFill>
            <a:srgbClr val="FFFFFF"/>
          </a:solidFill>
          <a:ln w="12700">
            <a:solidFill>
              <a:srgbClr val="C7D0DE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8" name="Image 1" descr="assets/page-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645920"/>
            <a:ext cx="9509760" cy="5498958"/>
          </a:xfrm>
          <a:prstGeom prst="rect">
            <a:avLst/>
          </a:prstGeom>
        </p:spPr>
      </p:pic>
      <p:pic>
        <p:nvPicPr>
          <p:cNvPr id="15" name="Image 0" descr="assets/image24.png">
            <a:extLst>
              <a:ext uri="{FF2B5EF4-FFF2-40B4-BE49-F238E27FC236}">
                <a16:creationId xmlns:a16="http://schemas.microsoft.com/office/drawing/2014/main" id="{6CA64CEC-DA10-DAA3-2D46-6B05F17CC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DASHBOARD · PAGE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Driver Analysis Dashboard (2/2)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93598"/>
              </p:ext>
            </p:extLst>
          </p:nvPr>
        </p:nvGraphicFramePr>
        <p:xfrm>
          <a:off x="502920" y="1764792"/>
          <a:ext cx="11155680" cy="1592559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55.55% of employee-days fall into the High productivity tier on the dashboard's own tier definition, vs. 16.79% Low — a 22.9-point productivity gap between tiers.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Work Hours (+0.52) and Burnout Risk (-0.48) are the two highest-impact correlated features on the live panel — matching the standalone Python correlation analysis almost exactly.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by mental state ranges from 75 (Focused) down to 67 (Burnout) — an 8-point swing tied directly to wellbeing state.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correlation with productivity sits at -45%, the single strongest psychological driver on this page.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26110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E4F8F5"/>
          </a:solidFill>
          <a:ln w="9525">
            <a:solidFill>
              <a:srgbClr val="B7E9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26110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deep-work protection and stress reduction as the two highest-leverage productivity interventions — both dashboard-confirmed and model-confirmed.</a:t>
            </a:r>
            <a:endParaRPr lang="en-US" sz="1050" dirty="0"/>
          </a:p>
        </p:txBody>
      </p:sp>
      <p:pic>
        <p:nvPicPr>
          <p:cNvPr id="13" name="Image 0" descr="assets/image24.png">
            <a:extLst>
              <a:ext uri="{FF2B5EF4-FFF2-40B4-BE49-F238E27FC236}">
                <a16:creationId xmlns:a16="http://schemas.microsoft.com/office/drawing/2014/main" id="{5C8F7C22-E254-0260-940C-B986F0201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Business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60857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is broad and balanced: ages 18–59 (mean 38.5), 7 occupations near-equally represented — no demographic or role skew.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exposure is workplace-wide: ~8 hrs screen time, ~209 notifications/day, uniform across occupations and work modes.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debt is common: 34.97% of employee-days under 6 hours; 65% include late-night device usage.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 risk is real and measurable: avg 48.58/100, 16.78% high-risk (~251,600 records), correlates -0.38 with productivity.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work is the strongest productivity lever (r = 0.554), far ahead of any other single factor.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ML models validate the diagnostic findings: 90.4% ROC-AUC burnout classifier, R² = 0.80 productivity model.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occupation, work mode, nor age meaningfully changes burnout risk — this is a behavioral problem, not a demographic one.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54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554480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Strategy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batch non-urgent notifications; target the 26.6% of doomscroll-heavy employee-days directly.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242816" y="1554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554480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4471416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Strategy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71416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device wind-down / sleep-hygiene pilot for the 65% late-night-usage population.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7982712" y="155448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82712" y="1554480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8211312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Strategy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11312" y="2331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burnout classifier (90.4% ROC-AUC) for continuous, HR-reviewed flagging.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502920" y="383133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831336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0142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Strategy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4608576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deep-work blocks on calendars — the single highest-leverage lever (r = 0.554).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4242816" y="383133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42816" y="3831336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24" name="Text 21"/>
          <p:cNvSpPr/>
          <p:nvPr/>
        </p:nvSpPr>
        <p:spPr>
          <a:xfrm>
            <a:off x="4471416" y="40142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Strategy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71416" y="4608576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wellness support evenly across roles/work modes — risk doesn't concentrate anywhere.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7982712" y="3831336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82712" y="3831336"/>
            <a:ext cx="73152" cy="21488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28" name="Text 25"/>
          <p:cNvSpPr/>
          <p:nvPr/>
        </p:nvSpPr>
        <p:spPr>
          <a:xfrm>
            <a:off x="8211312" y="40142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Strategy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11312" y="4608576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Power BI dashboard refresh for real-time people-ops monitoring.</a:t>
            </a:r>
            <a:endParaRPr lang="en-US" sz="103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FINAL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Recommendations (1/3)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1732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241B4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workforce — digital engagement, output, and role distribution — is stable and healthy at the aggregate level. The real opportunity is early, targeted intervention on the specific behavioral segments the diagnostic and predictive analysis have now precisely identified.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5468112" cy="1260428"/>
          </a:xfrm>
          <a:prstGeom prst="roundRect">
            <a:avLst>
              <a:gd name="adj" fmla="val 378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3010059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Targeting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85800" y="3375819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isn't role- or age-based — target by habit (screen time, doomscrolling, late-night usage), not demographic.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6190488" y="2880360"/>
            <a:ext cx="5468112" cy="1260428"/>
          </a:xfrm>
          <a:prstGeom prst="roundRect">
            <a:avLst>
              <a:gd name="adj" fmla="val 378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373368" y="3010059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Screening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73368" y="3375819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16.78% high-risk rate (~251,600 records) — deploy the classifier as a continuous, human-reviewed screen.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502920" y="4415108"/>
            <a:ext cx="5468112" cy="1260428"/>
          </a:xfrm>
          <a:prstGeom prst="roundRect">
            <a:avLst>
              <a:gd name="adj" fmla="val 378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5800" y="4544807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Protection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85800" y="4910567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hours is 6× more predictive than the next digital-habit driver — protect it structurally.</a:t>
            </a:r>
            <a:endParaRPr lang="en-US" sz="930" dirty="0"/>
          </a:p>
        </p:txBody>
      </p:sp>
      <p:sp>
        <p:nvSpPr>
          <p:cNvPr id="23" name="Shape 17"/>
          <p:cNvSpPr/>
          <p:nvPr/>
        </p:nvSpPr>
        <p:spPr>
          <a:xfrm>
            <a:off x="6190488" y="4415108"/>
            <a:ext cx="5468112" cy="1260428"/>
          </a:xfrm>
          <a:prstGeom prst="roundRect">
            <a:avLst>
              <a:gd name="adj" fmla="val 3784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373368" y="4544807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Disengagement Watch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373368" y="4910567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2.49% “disengaged” segment shows a 28.8-point productivity gap — needs its own tracking metric, separate from burnout-risk score.</a:t>
            </a:r>
            <a:endParaRPr lang="en-US" sz="93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FINAL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Recommendations (2/3)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515721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Habits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hrs screen time; 209 notifications/day; 26.6% high-doomscroll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Cap/batch notifications; target high-doomscroll segment with nudges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&amp; Recovery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34.97% sleep-deficient; 65% late-night usage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device wind-down pilot; monitor burnout-risk impact, not just sleep hours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 Risk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48.58 avg risk; 16.78% high-risk (251.6K records)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classifier (90.4% ROC-AUC) as a continuous, human-reviewed screen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Drivers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Work r=0.554; regression model R²=0.798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deep-work calendar blocks; use model for policy simulation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Segmentation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across 7 occupations, 3 work modes, 4 age bands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support workforce-wide; don't target by role, mode or 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FINAL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Recommendations (3/3) — Priority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54512" y="365760"/>
            <a:ext cx="548640" cy="548640"/>
          </a:xfrm>
          <a:prstGeom prst="ellipse">
            <a:avLst/>
          </a:prstGeom>
          <a:solidFill>
            <a:srgbClr val="348E90"/>
          </a:solidFill>
          <a:ln/>
        </p:spPr>
      </p:sp>
      <p:pic>
        <p:nvPicPr>
          <p:cNvPr id="5" name="Image 0" descr="assets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493776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55448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Term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9019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3246120" cy="23774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Cap/batch non-urgent notifications workplace-wide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device wind-down nudge pilot for late-night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261104" y="155448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2994A"/>
          </a:solidFill>
          <a:ln/>
        </p:spPr>
      </p:sp>
      <p:sp>
        <p:nvSpPr>
          <p:cNvPr id="12" name="Text 8"/>
          <p:cNvSpPr/>
          <p:nvPr/>
        </p:nvSpPr>
        <p:spPr>
          <a:xfrm>
            <a:off x="4261104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Term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61104" y="19019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261104" y="228600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graphicFrame>
        <p:nvGraphicFramePr>
          <p:cNvPr id="1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3984" y="2468880"/>
          <a:ext cx="3246120" cy="23774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burnout-risk classifier into HR review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out deep-work block protection policy org-wide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8019288" y="155448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32255F"/>
          </a:solidFill>
          <a:ln/>
        </p:spPr>
      </p:sp>
      <p:sp>
        <p:nvSpPr>
          <p:cNvPr id="17" name="Text 12"/>
          <p:cNvSpPr/>
          <p:nvPr/>
        </p:nvSpPr>
        <p:spPr>
          <a:xfrm>
            <a:off x="8019288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19288" y="19019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Months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019288" y="2286000"/>
            <a:ext cx="3611880" cy="3291840"/>
          </a:xfrm>
          <a:prstGeom prst="roundRect">
            <a:avLst>
              <a:gd name="adj" fmla="val 1667"/>
            </a:avLst>
          </a:prstGeom>
          <a:solidFill>
            <a:srgbClr val="F5F3FB"/>
          </a:solidFill>
          <a:ln w="9525">
            <a:solidFill>
              <a:srgbClr val="C7D0DE"/>
            </a:solidFill>
            <a:prstDash val="solid"/>
          </a:ln>
        </p:spPr>
      </p:sp>
      <p:graphicFrame>
        <p:nvGraphicFramePr>
          <p:cNvPr id="18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02168" y="2468880"/>
          <a:ext cx="3246120" cy="23774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disengagement tracking (deep-work + focus thresholds) as a standing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both models to ensemble methods and validate causally via pilot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367528" y="1874520"/>
            <a:ext cx="1463040" cy="1463040"/>
          </a:xfrm>
          <a:prstGeom prst="ellipse">
            <a:avLst/>
          </a:prstGeom>
          <a:solidFill>
            <a:srgbClr val="32255F"/>
          </a:solidFill>
          <a:ln w="15875">
            <a:solidFill>
              <a:srgbClr val="2EC4B6"/>
            </a:solidFill>
            <a:prstDash val="solid"/>
          </a:ln>
        </p:spPr>
      </p:sp>
      <p:pic>
        <p:nvPicPr>
          <p:cNvPr id="5" name="Image 0" descr="assets/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2402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5204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184648" y="4892040"/>
            <a:ext cx="1828800" cy="0"/>
          </a:xfrm>
          <a:prstGeom prst="line">
            <a:avLst/>
          </a:prstGeom>
          <a:noFill/>
          <a:ln w="12700">
            <a:solidFill>
              <a:srgbClr val="3225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 ·  Final Project Report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0" y="53492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Aakash Kumar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PRP PROJECT 1 - FINAL PPT</Template>
  <TotalTime>183</TotalTime>
  <Words>6338</Words>
  <Application>Microsoft Office PowerPoint</Application>
  <PresentationFormat>Widescreen</PresentationFormat>
  <Paragraphs>827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Aptos</vt:lpstr>
      <vt:lpstr>Aptos Display</vt:lpstr>
      <vt:lpstr>Arial</vt:lpstr>
      <vt:lpstr>Calibri</vt:lpstr>
      <vt:lpstr>Cambria</vt:lpstr>
      <vt:lpstr>Open Sans</vt:lpstr>
      <vt:lpstr>PT Sans Narrow</vt:lpstr>
      <vt:lpstr>Raleway</vt:lpstr>
      <vt:lpstr>Tropic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kumar</cp:lastModifiedBy>
  <cp:revision>6</cp:revision>
  <dcterms:created xsi:type="dcterms:W3CDTF">2026-07-31T22:12:34Z</dcterms:created>
  <dcterms:modified xsi:type="dcterms:W3CDTF">2026-08-01T10:21:09Z</dcterms:modified>
</cp:coreProperties>
</file>