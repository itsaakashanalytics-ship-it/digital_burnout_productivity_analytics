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6" r:id="rId16"/>
    <p:sldId id="277" r:id="rId17"/>
    <p:sldId id="278" r:id="rId18"/>
    <p:sldId id="279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C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 autoAdjust="0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6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 (K)</c:v>
                </c:pt>
              </c:strCache>
            </c:strRef>
          </c:tx>
          <c:spPr>
            <a:solidFill>
              <a:srgbClr val="241B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225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Burnout</c:v>
                </c:pt>
                <c:pt idx="1">
                  <c:v>Balanced</c:v>
                </c:pt>
                <c:pt idx="2">
                  <c:v>Focused</c:v>
                </c:pt>
                <c:pt idx="3">
                  <c:v>Distracted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299.7</c:v>
                </c:pt>
                <c:pt idx="1">
                  <c:v>374.4</c:v>
                </c:pt>
                <c:pt idx="2">
                  <c:v>375.6</c:v>
                </c:pt>
                <c:pt idx="3">
                  <c:v>450.4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B7-4C5B-A00A-094517C07B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225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903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8.png"/><Relationship Id="rId4" Type="http://schemas.openxmlformats.org/officeDocument/2006/relationships/image" Target="../media/image29.png"/><Relationship Id="rId9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9.png"/><Relationship Id="rId4" Type="http://schemas.openxmlformats.org/officeDocument/2006/relationships/image" Target="../media/image37.png"/><Relationship Id="rId9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3225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32255F"/>
          </a:solidFill>
          <a:ln/>
        </p:spPr>
      </p:sp>
      <p:sp>
        <p:nvSpPr>
          <p:cNvPr id="4" name="Shape 2"/>
          <p:cNvSpPr/>
          <p:nvPr/>
        </p:nvSpPr>
        <p:spPr>
          <a:xfrm>
            <a:off x="11521440" y="5074920"/>
            <a:ext cx="1143000" cy="11430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8580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icons/heartb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8332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HR TECH &amp; DIGITAL WORKPLACE ANALYTICS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102412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Burnout &amp;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Workplace Productivity Analytics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58368" y="393192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to Reduce Digital Burnout Risk and Protect Workforce Productivity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" y="4800600"/>
            <a:ext cx="484632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496519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Technology &amp; People Analytics (Digital Workplace Wellness)
</a:t>
            </a:r>
            <a:r>
              <a:rPr lang="en-US" sz="1400" b="1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Kumar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" y="6053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employee-days  ·  34 attributes  ·  7 occupations  ·  SQL Server · Python · Power BI · ML · Streamlit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heartb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17320"/>
            <a:ext cx="6903720" cy="4892040"/>
          </a:xfrm>
          <a:prstGeom prst="roundRect">
            <a:avLst>
              <a:gd name="adj" fmla="val 1495"/>
            </a:avLst>
          </a:prstGeom>
          <a:solidFill>
            <a:srgbClr val="EFEAF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45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011680"/>
            <a:ext cx="63093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1.5 million logged employee-days spanning 7 occupations and 3 work modes, digital habits — screen time, notifications, doomscrolling, late-night device use — are quietly shaping how people work, sleep and cope. Nearly 1 in 6 records (16.8%) show high burnout risk, and 1 in 5 employees are classified as being in an active “Burnout” mental state.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organizations today have no systematic way to see this coming. Screen-time, focus and wellbeing data sit in disconnected systems with no link back to productivity outcomes, so HR and people-ops teams cannot tell which digital habits are eroding output — or intervene before burnout becomes attrition.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543800" y="1417320"/>
            <a:ext cx="4187952" cy="4892040"/>
          </a:xfrm>
          <a:prstGeom prst="roundRect">
            <a:avLst>
              <a:gd name="adj" fmla="val 1747"/>
            </a:avLst>
          </a:prstGeom>
          <a:solidFill>
            <a:srgbClr val="241B4F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882128" y="2176272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2039112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correlates negatively with productivity score (r = -0.38) — it's a direct output cost, not just a wellbeing issue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82128" y="3072384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2"/>
          <p:cNvSpPr/>
          <p:nvPr/>
        </p:nvSpPr>
        <p:spPr>
          <a:xfrm>
            <a:off x="8092440" y="2935224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records show under 6 hours of sleep, a known driver of long-term burnout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82128" y="3968496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4"/>
          <p:cNvSpPr/>
          <p:nvPr/>
        </p:nvSpPr>
        <p:spPr>
          <a:xfrm>
            <a:off x="8092440" y="3831336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a “Burnout” mental state score ~8.5 points lower on productivity than “Focused” peers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882128" y="4864608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6"/>
          <p:cNvSpPr/>
          <p:nvPr/>
        </p:nvSpPr>
        <p:spPr>
          <a:xfrm>
            <a:off x="8092440" y="4727448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is fairly flat across roles and work modes — meaning digital habits, not job type, are the lever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82128" y="5760720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8"/>
          <p:cNvSpPr/>
          <p:nvPr/>
        </p:nvSpPr>
        <p:spPr>
          <a:xfrm>
            <a:off x="8092440" y="56235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lets HR intervene with workload or digital-wellness support before attrition risk rises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always-on digital workplace has quietly become one of the biggest risks to sustainable productivity.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3611880" cy="1508760"/>
          </a:xfrm>
          <a:prstGeom prst="roundRect">
            <a:avLst>
              <a:gd name="adj" fmla="val 4242"/>
            </a:avLst>
          </a:prstGeom>
          <a:solidFill>
            <a:srgbClr val="EFEAFA"/>
          </a:solidFill>
          <a:ln/>
        </p:spPr>
      </p:sp>
      <p:sp>
        <p:nvSpPr>
          <p:cNvPr id="9" name="Shape 6"/>
          <p:cNvSpPr/>
          <p:nvPr/>
        </p:nvSpPr>
        <p:spPr>
          <a:xfrm>
            <a:off x="621792" y="2039112"/>
            <a:ext cx="420624" cy="420624"/>
          </a:xfrm>
          <a:prstGeom prst="ellipse">
            <a:avLst/>
          </a:prstGeom>
          <a:solidFill>
            <a:srgbClr val="241B4F"/>
          </a:solidFill>
          <a:ln/>
        </p:spPr>
      </p:sp>
      <p:pic>
        <p:nvPicPr>
          <p:cNvPr id="10" name="Image 1" descr="icons/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54" y="2148474"/>
            <a:ext cx="201900" cy="201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0025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Overload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1792" y="2441448"/>
            <a:ext cx="3282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average 112+ notifications and dozens of smartphone unlocks per day, fragmenting focus.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4233672" y="1874520"/>
            <a:ext cx="3611880" cy="1508760"/>
          </a:xfrm>
          <a:prstGeom prst="roundRect">
            <a:avLst>
              <a:gd name="adj" fmla="val 4242"/>
            </a:avLst>
          </a:prstGeom>
          <a:solidFill>
            <a:srgbClr val="EFEA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398264" y="2039112"/>
            <a:ext cx="420624" cy="420624"/>
          </a:xfrm>
          <a:prstGeom prst="ellipse">
            <a:avLst/>
          </a:prstGeom>
          <a:solidFill>
            <a:srgbClr val="241B4F"/>
          </a:solidFill>
          <a:ln/>
        </p:spPr>
      </p:sp>
      <p:pic>
        <p:nvPicPr>
          <p:cNvPr id="15" name="Image 2" descr="icons/mo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626" y="2148474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19472" y="20025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Debt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398264" y="2441448"/>
            <a:ext cx="3282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third of employee-days show under 6 hours of sleep — a leading driver of chronic fatigue.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8010144" y="1874520"/>
            <a:ext cx="3611880" cy="1508760"/>
          </a:xfrm>
          <a:prstGeom prst="roundRect">
            <a:avLst>
              <a:gd name="adj" fmla="val 4242"/>
            </a:avLst>
          </a:prstGeom>
          <a:solidFill>
            <a:srgbClr val="EFEAFA"/>
          </a:solidFill>
          <a:ln/>
        </p:spPr>
      </p:sp>
      <p:sp>
        <p:nvSpPr>
          <p:cNvPr id="19" name="Shape 14"/>
          <p:cNvSpPr/>
          <p:nvPr/>
        </p:nvSpPr>
        <p:spPr>
          <a:xfrm>
            <a:off x="8174736" y="2039112"/>
            <a:ext cx="420624" cy="420624"/>
          </a:xfrm>
          <a:prstGeom prst="ellipse">
            <a:avLst/>
          </a:prstGeom>
          <a:solidFill>
            <a:srgbClr val="241B4F"/>
          </a:solidFill>
          <a:ln/>
        </p:spPr>
      </p:sp>
      <p:pic>
        <p:nvPicPr>
          <p:cNvPr id="20" name="Image 3" descr="icons/mob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098" y="2148474"/>
            <a:ext cx="201900" cy="201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95944" y="20025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Doomscrolling &amp; App-Switching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174736" y="2441448"/>
            <a:ext cx="3282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app-switch frequency and doomscrolling time erode deep work capacity across all roles.</a:t>
            </a:r>
            <a:endParaRPr lang="en-US" sz="1080" dirty="0"/>
          </a:p>
        </p:txBody>
      </p:sp>
      <p:sp>
        <p:nvSpPr>
          <p:cNvPr id="23" name="Shape 17"/>
          <p:cNvSpPr/>
          <p:nvPr/>
        </p:nvSpPr>
        <p:spPr>
          <a:xfrm>
            <a:off x="457200" y="3566160"/>
            <a:ext cx="3611880" cy="1508760"/>
          </a:xfrm>
          <a:prstGeom prst="roundRect">
            <a:avLst>
              <a:gd name="adj" fmla="val 4242"/>
            </a:avLst>
          </a:prstGeom>
          <a:solidFill>
            <a:srgbClr val="EFEAFA"/>
          </a:solidFill>
          <a:ln/>
        </p:spPr>
      </p:sp>
      <p:sp>
        <p:nvSpPr>
          <p:cNvPr id="24" name="Shape 18"/>
          <p:cNvSpPr/>
          <p:nvPr/>
        </p:nvSpPr>
        <p:spPr>
          <a:xfrm>
            <a:off x="621792" y="3730752"/>
            <a:ext cx="420624" cy="420624"/>
          </a:xfrm>
          <a:prstGeom prst="ellipse">
            <a:avLst/>
          </a:prstGeom>
          <a:solidFill>
            <a:srgbClr val="241B4F"/>
          </a:solidFill>
          <a:ln/>
        </p:spPr>
      </p:sp>
      <p:pic>
        <p:nvPicPr>
          <p:cNvPr id="25" name="Image 4" descr="icons/war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154" y="3840114"/>
            <a:ext cx="201900" cy="201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43000" y="36941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Burnout Risk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21792" y="4133088"/>
            <a:ext cx="3282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 of records fall into high burnout risk, often with no visible productivity red flag yet.</a:t>
            </a:r>
            <a:endParaRPr lang="en-US" sz="1080" dirty="0"/>
          </a:p>
        </p:txBody>
      </p:sp>
      <p:sp>
        <p:nvSpPr>
          <p:cNvPr id="28" name="Shape 21"/>
          <p:cNvSpPr/>
          <p:nvPr/>
        </p:nvSpPr>
        <p:spPr>
          <a:xfrm>
            <a:off x="4233672" y="3566160"/>
            <a:ext cx="3611880" cy="1508760"/>
          </a:xfrm>
          <a:prstGeom prst="roundRect">
            <a:avLst>
              <a:gd name="adj" fmla="val 4242"/>
            </a:avLst>
          </a:prstGeom>
          <a:solidFill>
            <a:srgbClr val="EFEAFA"/>
          </a:solidFill>
          <a:ln/>
        </p:spPr>
      </p:sp>
      <p:sp>
        <p:nvSpPr>
          <p:cNvPr id="29" name="Shape 22"/>
          <p:cNvSpPr/>
          <p:nvPr/>
        </p:nvSpPr>
        <p:spPr>
          <a:xfrm>
            <a:off x="4398264" y="3730752"/>
            <a:ext cx="420624" cy="420624"/>
          </a:xfrm>
          <a:prstGeom prst="ellipse">
            <a:avLst/>
          </a:prstGeom>
          <a:solidFill>
            <a:srgbClr val="241B4F"/>
          </a:solidFill>
          <a:ln/>
        </p:spPr>
      </p:sp>
      <p:pic>
        <p:nvPicPr>
          <p:cNvPr id="30" name="Image 5" descr="icons/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626" y="3840114"/>
            <a:ext cx="201900" cy="2019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919472" y="36941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Exposure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398264" y="4133088"/>
            <a:ext cx="3282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is nearly flat across occupations and work modes — no team is naturally immune.</a:t>
            </a:r>
            <a:endParaRPr lang="en-US" sz="1080" dirty="0"/>
          </a:p>
        </p:txBody>
      </p:sp>
      <p:sp>
        <p:nvSpPr>
          <p:cNvPr id="33" name="Shape 25"/>
          <p:cNvSpPr/>
          <p:nvPr/>
        </p:nvSpPr>
        <p:spPr>
          <a:xfrm>
            <a:off x="8010144" y="3566160"/>
            <a:ext cx="3611880" cy="1508760"/>
          </a:xfrm>
          <a:prstGeom prst="roundRect">
            <a:avLst>
              <a:gd name="adj" fmla="val 4242"/>
            </a:avLst>
          </a:prstGeom>
          <a:solidFill>
            <a:srgbClr val="EFEAFA"/>
          </a:solidFill>
          <a:ln/>
        </p:spPr>
      </p:sp>
      <p:sp>
        <p:nvSpPr>
          <p:cNvPr id="34" name="Shape 26"/>
          <p:cNvSpPr/>
          <p:nvPr/>
        </p:nvSpPr>
        <p:spPr>
          <a:xfrm>
            <a:off x="8174736" y="3730752"/>
            <a:ext cx="420624" cy="420624"/>
          </a:xfrm>
          <a:prstGeom prst="ellipse">
            <a:avLst/>
          </a:prstGeom>
          <a:solidFill>
            <a:srgbClr val="241B4F"/>
          </a:solidFill>
          <a:ln/>
        </p:spPr>
      </p:sp>
      <p:pic>
        <p:nvPicPr>
          <p:cNvPr id="35" name="Image 6" descr="icons/chartli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4098" y="3840114"/>
            <a:ext cx="201900" cy="2019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695944" y="36941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at Stake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8174736" y="4133088"/>
            <a:ext cx="3282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state alone is linked to an ~8.5-point drop in productivity score versus focused peers.</a:t>
            </a:r>
            <a:endParaRPr lang="en-US" sz="1080" dirty="0"/>
          </a:p>
        </p:txBody>
      </p:sp>
      <p:sp>
        <p:nvSpPr>
          <p:cNvPr id="38" name="Shape 29"/>
          <p:cNvSpPr/>
          <p:nvPr/>
        </p:nvSpPr>
        <p:spPr>
          <a:xfrm>
            <a:off x="457200" y="6080760"/>
            <a:ext cx="11274552" cy="502920"/>
          </a:xfrm>
          <a:prstGeom prst="roundRect">
            <a:avLst>
              <a:gd name="adj" fmla="val 10909"/>
            </a:avLst>
          </a:prstGeom>
          <a:solidFill>
            <a:srgbClr val="241B4F"/>
          </a:solidFill>
          <a:ln/>
        </p:spPr>
      </p:sp>
      <p:sp>
        <p:nvSpPr>
          <p:cNvPr id="39" name="Text 30"/>
          <p:cNvSpPr/>
          <p:nvPr/>
        </p:nvSpPr>
        <p:spPr>
          <a:xfrm>
            <a:off x="685800" y="608076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unified analytics view, organizations cannot see burnout coming, target the right interventions, or protect productivity before it erodes.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61848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9" name="Image 1" descr="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" y="1749247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58368" y="224028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Analytics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58368" y="2587752"/>
            <a:ext cx="3209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employees by occupation, work mode and digital habits to understand who is most at risk.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33672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34840" y="161848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2" descr="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599" y="174924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68312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434840" y="224028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434840" y="2587752"/>
            <a:ext cx="3209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screen time, sleep and focus patterns relate to productivity outcomes.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010144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11312" y="161848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2071" y="174924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844784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8211312" y="224028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Analysis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211312" y="2587752"/>
            <a:ext cx="3209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workspace quality, meeting load and internet stability as productivity levers.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58368" y="395020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7" name="Image 4" descr="icons/war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127" y="4080967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291840" y="3886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658368" y="457200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658368" y="4919472"/>
            <a:ext cx="3209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burnout-risk probability to flag employees before it shows up in output.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233672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434840" y="395020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3" name="Image 5" descr="icons/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5599" y="4080967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68312" y="3886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27"/>
          <p:cNvSpPr/>
          <p:nvPr/>
        </p:nvSpPr>
        <p:spPr>
          <a:xfrm>
            <a:off x="4434840" y="457200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Growth</a:t>
            </a:r>
            <a:endParaRPr lang="en-US" sz="1450" dirty="0"/>
          </a:p>
        </p:txBody>
      </p:sp>
      <p:sp>
        <p:nvSpPr>
          <p:cNvPr id="36" name="Text 28"/>
          <p:cNvSpPr/>
          <p:nvPr/>
        </p:nvSpPr>
        <p:spPr>
          <a:xfrm>
            <a:off x="4434840" y="4919472"/>
            <a:ext cx="3209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digital-wellness insight as a retention and employer-brand differentiator.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8010144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  <a:effectLst>
            <a:outerShdw blurRad="76200" dist="25400" dir="5400000" algn="bl" rotWithShape="0">
              <a:srgbClr val="9AA5C0">
                <a:alpha val="3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211312" y="395020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9" name="Image 6" descr="icons/balan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2071" y="4080967"/>
            <a:ext cx="241402" cy="24140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844784" y="3886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F3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1" name="Text 32"/>
          <p:cNvSpPr/>
          <p:nvPr/>
        </p:nvSpPr>
        <p:spPr>
          <a:xfrm>
            <a:off x="8211312" y="457200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Optimization</a:t>
            </a:r>
            <a:endParaRPr lang="en-US" sz="1450" dirty="0"/>
          </a:p>
        </p:txBody>
      </p:sp>
      <p:sp>
        <p:nvSpPr>
          <p:cNvPr id="42" name="Text 33"/>
          <p:cNvSpPr/>
          <p:nvPr/>
        </p:nvSpPr>
        <p:spPr>
          <a:xfrm>
            <a:off x="8211312" y="4919472"/>
            <a:ext cx="3209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meeting load, notification policy and remote-work mix to protect focus time.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371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241B4F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447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1.5M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EMPLOYEE-DAY RECORDS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82696" y="1371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241B4F"/>
          </a:solidFill>
          <a:ln/>
        </p:spPr>
      </p:sp>
      <p:sp>
        <p:nvSpPr>
          <p:cNvPr id="11" name="Text 8"/>
          <p:cNvSpPr/>
          <p:nvPr/>
        </p:nvSpPr>
        <p:spPr>
          <a:xfrm>
            <a:off x="3282696" y="14447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282696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ATTRIBUTES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08192" y="1371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241B4F"/>
          </a:solidFill>
          <a:ln/>
        </p:spPr>
      </p:sp>
      <p:sp>
        <p:nvSpPr>
          <p:cNvPr id="14" name="Text 11"/>
          <p:cNvSpPr/>
          <p:nvPr/>
        </p:nvSpPr>
        <p:spPr>
          <a:xfrm>
            <a:off x="6108192" y="14447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108192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OCCUPATIONS TRACKED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933688" y="1371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241B4F"/>
          </a:solidFill>
          <a:ln/>
        </p:spPr>
      </p:sp>
      <p:sp>
        <p:nvSpPr>
          <p:cNvPr id="17" name="Text 14"/>
          <p:cNvSpPr/>
          <p:nvPr/>
        </p:nvSpPr>
        <p:spPr>
          <a:xfrm>
            <a:off x="8933688" y="144475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16.8%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933688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BURNOUT RISK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788920"/>
            <a:ext cx="6903720" cy="3520440"/>
          </a:xfrm>
          <a:prstGeom prst="roundRect">
            <a:avLst>
              <a:gd name="adj" fmla="val 2078"/>
            </a:avLst>
          </a:prstGeom>
          <a:solidFill>
            <a:srgbClr val="EFEAFA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29992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7240" y="3364992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person-day level digital-behaviour and wellbeing log covering 7 occupations (Freelancer, Designer, Manager, Content Creator, Software Engineer, Analyst, Student) across 3 work modes. Each row captures device usage, focus and sleep patterns, stress and motivation indicators, and computed burnout-risk and productivity scores — making it the richest single table for digital-wellbeing and productivity analytics.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77240" y="480060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 </a:t>
            </a:r>
            <a:r>
              <a:rPr lang="en-US" sz="11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digital-behaviour &amp; wellbeing log (CSV extract)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77240" y="516636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Type:  </a:t>
            </a:r>
            <a:r>
              <a:rPr lang="en-US" sz="11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tabular — numeric &amp; categorical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77240" y="553212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Granularity:  </a:t>
            </a:r>
            <a:r>
              <a:rPr lang="en-US" sz="11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employee per tracked day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77240" y="589788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 </a:t>
            </a:r>
            <a:r>
              <a:rPr lang="en-US" sz="11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 nulls in 4 columns (sleep, social media, deep work, motivation)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543800" y="2788920"/>
            <a:ext cx="4187952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18120" y="2999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STATE MIX</a:t>
            </a:r>
            <a:endParaRPr lang="en-US" sz="13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7680960" y="3383280"/>
          <a:ext cx="39319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 25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Architecture &amp; Analytics Workflow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1732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241B4F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1581912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9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54" y="1691274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1563624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21792" y="2039112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1792" y="233172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employee-day records ingested from source CSV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33672" y="141732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EFEA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398264" y="158191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icons/clipboar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626" y="1691274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92040" y="1563624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398264" y="2039112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398264" y="233172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type &amp; range checks in SQL Server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010144" y="141732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241B4F"/>
          </a:solidFill>
          <a:ln/>
        </p:spPr>
      </p:sp>
      <p:sp>
        <p:nvSpPr>
          <p:cNvPr id="20" name="Shape 15"/>
          <p:cNvSpPr/>
          <p:nvPr/>
        </p:nvSpPr>
        <p:spPr>
          <a:xfrm>
            <a:off x="8174736" y="1581912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icons/bro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098" y="1691274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68512" y="1563624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174736" y="2039112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174736" y="233172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Impute/flag nulls in sleep, social media &amp; motivation fields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315468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EFEAFA"/>
          </a:solidFill>
          <a:ln/>
        </p:spPr>
      </p:sp>
      <p:sp>
        <p:nvSpPr>
          <p:cNvPr id="26" name="Shape 20"/>
          <p:cNvSpPr/>
          <p:nvPr/>
        </p:nvSpPr>
        <p:spPr>
          <a:xfrm>
            <a:off x="621792" y="331927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icons/cod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154" y="3428634"/>
            <a:ext cx="201900" cy="201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15568" y="3300984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621792" y="3776472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21792" y="406908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Profiling, aggregation &amp; business-rule queries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233672" y="315468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241B4F"/>
          </a:solidFill>
          <a:ln/>
        </p:spPr>
      </p:sp>
      <p:sp>
        <p:nvSpPr>
          <p:cNvPr id="32" name="Shape 25"/>
          <p:cNvSpPr/>
          <p:nvPr/>
        </p:nvSpPr>
        <p:spPr>
          <a:xfrm>
            <a:off x="4398264" y="3319272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3" name="Image 5" descr="icons/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626" y="3428634"/>
            <a:ext cx="201900" cy="2019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892040" y="3300984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398264" y="3776472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4398264" y="406908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— distributions, correlations, outliers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8010144" y="315468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EFEAFA"/>
          </a:solidFill>
          <a:ln/>
        </p:spPr>
      </p:sp>
      <p:sp>
        <p:nvSpPr>
          <p:cNvPr id="38" name="Shape 30"/>
          <p:cNvSpPr/>
          <p:nvPr/>
        </p:nvSpPr>
        <p:spPr>
          <a:xfrm>
            <a:off x="8174736" y="331927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6" descr="icons/layer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4098" y="3428634"/>
            <a:ext cx="201900" cy="20190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668512" y="3300984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8174736" y="3776472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8174736" y="406908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Digital-habit indices &amp; burnout-driver features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457200" y="489204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241B4F"/>
          </a:solidFill>
          <a:ln/>
        </p:spPr>
      </p:sp>
      <p:sp>
        <p:nvSpPr>
          <p:cNvPr id="44" name="Shape 35"/>
          <p:cNvSpPr/>
          <p:nvPr/>
        </p:nvSpPr>
        <p:spPr>
          <a:xfrm>
            <a:off x="621792" y="5056632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45" name="Image 7" descr="icons/b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154" y="5165994"/>
            <a:ext cx="201900" cy="20190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115568" y="5038344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621792" y="5513832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48" name="Text 38"/>
          <p:cNvSpPr/>
          <p:nvPr/>
        </p:nvSpPr>
        <p:spPr>
          <a:xfrm>
            <a:off x="621792" y="580644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Burnout-risk &amp; productivity prediction model training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4233672" y="489204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EFEAFA"/>
          </a:solidFill>
          <a:ln/>
        </p:spPr>
      </p:sp>
      <p:sp>
        <p:nvSpPr>
          <p:cNvPr id="50" name="Shape 40"/>
          <p:cNvSpPr/>
          <p:nvPr/>
        </p:nvSpPr>
        <p:spPr>
          <a:xfrm>
            <a:off x="4398264" y="505663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8" descr="icons/dashboard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7626" y="5165994"/>
            <a:ext cx="201900" cy="20190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4892040" y="5038344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900" dirty="0"/>
          </a:p>
        </p:txBody>
      </p:sp>
      <p:sp>
        <p:nvSpPr>
          <p:cNvPr id="53" name="Text 42"/>
          <p:cNvSpPr/>
          <p:nvPr/>
        </p:nvSpPr>
        <p:spPr>
          <a:xfrm>
            <a:off x="4398264" y="5513832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300" dirty="0"/>
          </a:p>
        </p:txBody>
      </p:sp>
      <p:sp>
        <p:nvSpPr>
          <p:cNvPr id="54" name="Text 43"/>
          <p:cNvSpPr/>
          <p:nvPr/>
        </p:nvSpPr>
        <p:spPr>
          <a:xfrm>
            <a:off x="4398264" y="580644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&amp; people-ops reporting</a:t>
            </a:r>
            <a:endParaRPr lang="en-US" sz="1000" dirty="0"/>
          </a:p>
        </p:txBody>
      </p:sp>
      <p:sp>
        <p:nvSpPr>
          <p:cNvPr id="55" name="Shape 44"/>
          <p:cNvSpPr/>
          <p:nvPr/>
        </p:nvSpPr>
        <p:spPr>
          <a:xfrm>
            <a:off x="8010144" y="489204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241B4F"/>
          </a:solidFill>
          <a:ln/>
        </p:spPr>
      </p:sp>
      <p:sp>
        <p:nvSpPr>
          <p:cNvPr id="56" name="Shape 45"/>
          <p:cNvSpPr/>
          <p:nvPr/>
        </p:nvSpPr>
        <p:spPr>
          <a:xfrm>
            <a:off x="8174736" y="5056632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7" name="Image 9" descr="icons/light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4098" y="5165994"/>
            <a:ext cx="201900" cy="201900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8668512" y="5038344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900" dirty="0"/>
          </a:p>
        </p:txBody>
      </p:sp>
      <p:sp>
        <p:nvSpPr>
          <p:cNvPr id="59" name="Text 47"/>
          <p:cNvSpPr/>
          <p:nvPr/>
        </p:nvSpPr>
        <p:spPr>
          <a:xfrm>
            <a:off x="8174736" y="5513832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60" name="Text 48"/>
          <p:cNvSpPr/>
          <p:nvPr/>
        </p:nvSpPr>
        <p:spPr>
          <a:xfrm>
            <a:off x="8174736" y="580644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 for HR &amp; workplace policy</a:t>
            </a:r>
            <a:endParaRPr lang="en-US" sz="1000" dirty="0"/>
          </a:p>
        </p:txBody>
      </p:sp>
      <p:sp>
        <p:nvSpPr>
          <p:cNvPr id="61" name="Text 49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62" name="Text 50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48920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occupation / work_mode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role (7 types) &amp; work arrangement (Remote/Hybrid/Office)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&amp; role-based benchmarking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daily_screen_time / social_media_hours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daily screen time &amp; social media usage (hours)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Digital-habit exposure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doomscrolling_duration / app_switch_frequency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scrolling time &amp; app-switch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Attention-fragmentation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notification_count / smartphone_unlocks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notifications received &amp; phone unlocks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Interruption-load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late_night_device_usage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for device use during late-night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Sleep-hygiene risk indicator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focus_sessions / deep_work_hours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focus sessions &amp; hours of deep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Productivity-capacity measurement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sleep_hours / sleep_quality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slept &amp; self-rated sleep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&amp; fatigue-risk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stress_level / mental_fatigue / emotional_exhaustion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Self-reported stress, fatigue &amp; exhaustion scores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burnout-driver indicators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mental_state / burnout_risk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state (Focused/Balanced/Distracted/Burnout) &amp; risk score (0–100)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wellbeing classification &amp; ML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241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productivity_score / productivity_category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productivity score (0–100) &amp; tier (Low/Medium/High)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225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business outcome 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Use Cases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FEAFA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9" name="Image 1" descr="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7190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2194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Burnout Detection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0080" y="267919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employees on burnout risk so HR can intervene before it shows up in output or attrition.</a:t>
            </a:r>
            <a:endParaRPr lang="en-US" sz="1070" dirty="0"/>
          </a:p>
        </p:txBody>
      </p:sp>
      <p:sp>
        <p:nvSpPr>
          <p:cNvPr id="12" name="Shape 8"/>
          <p:cNvSpPr/>
          <p:nvPr/>
        </p:nvSpPr>
        <p:spPr>
          <a:xfrm>
            <a:off x="4233672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FEAFA"/>
          </a:solidFill>
          <a:ln/>
        </p:spPr>
      </p:sp>
      <p:sp>
        <p:nvSpPr>
          <p:cNvPr id="13" name="Shape 9"/>
          <p:cNvSpPr/>
          <p:nvPr/>
        </p:nvSpPr>
        <p:spPr>
          <a:xfrm>
            <a:off x="4416552" y="1600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4" name="Image 2" descr="icons/mo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17190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16552" y="2194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Recovery Monitoring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416552" y="267919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chronic under-6-hour sleep patterns linked to long-term fatigue and disengagement.</a:t>
            </a:r>
            <a:endParaRPr lang="en-US" sz="1070" dirty="0"/>
          </a:p>
        </p:txBody>
      </p:sp>
      <p:sp>
        <p:nvSpPr>
          <p:cNvPr id="17" name="Shape 12"/>
          <p:cNvSpPr/>
          <p:nvPr/>
        </p:nvSpPr>
        <p:spPr>
          <a:xfrm>
            <a:off x="8010144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FEAFA"/>
          </a:solidFill>
          <a:ln/>
        </p:spPr>
      </p:sp>
      <p:sp>
        <p:nvSpPr>
          <p:cNvPr id="18" name="Shape 13"/>
          <p:cNvSpPr/>
          <p:nvPr/>
        </p:nvSpPr>
        <p:spPr>
          <a:xfrm>
            <a:off x="8193024" y="1600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9" name="Image 3" descr="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171907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93024" y="2194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Risk Benchmarking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193024" y="267919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burnout and productivity patterns across all 7 roles to target support fairly.</a:t>
            </a:r>
            <a:endParaRPr lang="en-US" sz="1070" dirty="0"/>
          </a:p>
        </p:txBody>
      </p:sp>
      <p:sp>
        <p:nvSpPr>
          <p:cNvPr id="22" name="Shape 16"/>
          <p:cNvSpPr/>
          <p:nvPr/>
        </p:nvSpPr>
        <p:spPr>
          <a:xfrm>
            <a:off x="457200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FEAFA"/>
          </a:solidFill>
          <a:ln/>
        </p:spPr>
      </p:sp>
      <p:sp>
        <p:nvSpPr>
          <p:cNvPr id="23" name="Shape 17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4" name="Image 4" descr="icons/co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4050792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" y="4526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Policy Tuning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40080" y="501091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meeting-load, workspace-quality and internet-stability data to fix operational friction.</a:t>
            </a:r>
            <a:endParaRPr lang="en-US" sz="1070" dirty="0"/>
          </a:p>
        </p:txBody>
      </p:sp>
      <p:sp>
        <p:nvSpPr>
          <p:cNvPr id="27" name="Shape 20"/>
          <p:cNvSpPr/>
          <p:nvPr/>
        </p:nvSpPr>
        <p:spPr>
          <a:xfrm>
            <a:off x="4233672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FEAFA"/>
          </a:solidFill>
          <a:ln/>
        </p:spPr>
      </p:sp>
      <p:sp>
        <p:nvSpPr>
          <p:cNvPr id="28" name="Shape 21"/>
          <p:cNvSpPr/>
          <p:nvPr/>
        </p:nvSpPr>
        <p:spPr>
          <a:xfrm>
            <a:off x="4416552" y="39319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9" name="Image 5" descr="icons/chart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5424" y="4050792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416552" y="4526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Driver Analysis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416552" y="501091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digital habits most strongly predict high vs. low productivity outcomes.</a:t>
            </a:r>
            <a:endParaRPr lang="en-US" sz="1070" dirty="0"/>
          </a:p>
        </p:txBody>
      </p:sp>
      <p:sp>
        <p:nvSpPr>
          <p:cNvPr id="32" name="Shape 24"/>
          <p:cNvSpPr/>
          <p:nvPr/>
        </p:nvSpPr>
        <p:spPr>
          <a:xfrm>
            <a:off x="8010144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FEAFA"/>
          </a:solidFill>
          <a:ln/>
        </p:spPr>
      </p:sp>
      <p:sp>
        <p:nvSpPr>
          <p:cNvPr id="33" name="Shape 25"/>
          <p:cNvSpPr/>
          <p:nvPr/>
        </p:nvSpPr>
        <p:spPr>
          <a:xfrm>
            <a:off x="8193024" y="39319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4" name="Image 6" descr="icons/be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1896" y="4050792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193024" y="4526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Digital-Wellness Program Design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193024" y="501091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notification, screen-time and focus-session interventions using real usage data.</a:t>
            </a:r>
            <a:endParaRPr lang="en-US" sz="1070" dirty="0"/>
          </a:p>
        </p:txBody>
      </p:sp>
      <p:sp>
        <p:nvSpPr>
          <p:cNvPr id="37" name="Text 2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KPIs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17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" y="1344168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Burnout Risk Score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burnout-risk score (0-100) across all employee-days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291072" y="1417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11" name="Text 8"/>
          <p:cNvSpPr/>
          <p:nvPr/>
        </p:nvSpPr>
        <p:spPr>
          <a:xfrm>
            <a:off x="6291072" y="1417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1344168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Burnout Risk Rate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records with burnout risk above the high-risk threshold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57200" y="204368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0436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41248" y="1970532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Productivity Score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productivity score (0-100) across the workforce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291072" y="204368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17" name="Text 14"/>
          <p:cNvSpPr/>
          <p:nvPr/>
        </p:nvSpPr>
        <p:spPr>
          <a:xfrm>
            <a:off x="6291072" y="20436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0" y="1970532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Mental-State Share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records classified in an active Burnout state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457200" y="267004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670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41248" y="2596896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Deficit Rate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employee-days with under 6 hours of sleep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291072" y="267004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23" name="Text 20"/>
          <p:cNvSpPr/>
          <p:nvPr/>
        </p:nvSpPr>
        <p:spPr>
          <a:xfrm>
            <a:off x="6291072" y="2670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675120" y="2596896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vs. Burnout Correlation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of link between daily screen time and burnout risk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457200" y="32964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32964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41248" y="3223260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by Mental State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productivity score for Focused vs. Burnout employees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291072" y="32964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29" name="Text 26"/>
          <p:cNvSpPr/>
          <p:nvPr/>
        </p:nvSpPr>
        <p:spPr>
          <a:xfrm>
            <a:off x="6291072" y="32964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675120" y="3223260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Risk Ranking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burnout risk ranked across all 7 occupations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457200" y="392277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3922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41248" y="3849624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Work-Mode Risk Comparison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burnout risk across Remote / Hybrid / Office</a:t>
            </a:r>
            <a:endParaRPr lang="en-US" sz="1080" dirty="0"/>
          </a:p>
        </p:txBody>
      </p:sp>
      <p:sp>
        <p:nvSpPr>
          <p:cNvPr id="34" name="Shape 31"/>
          <p:cNvSpPr/>
          <p:nvPr/>
        </p:nvSpPr>
        <p:spPr>
          <a:xfrm>
            <a:off x="6291072" y="392277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35" name="Text 32"/>
          <p:cNvSpPr/>
          <p:nvPr/>
        </p:nvSpPr>
        <p:spPr>
          <a:xfrm>
            <a:off x="6291072" y="3922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675120" y="3849624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 Ratio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deep-work hours as a share of total screen time</a:t>
            </a:r>
            <a:endParaRPr lang="en-US" sz="1080" dirty="0"/>
          </a:p>
        </p:txBody>
      </p:sp>
      <p:sp>
        <p:nvSpPr>
          <p:cNvPr id="37" name="Shape 34"/>
          <p:cNvSpPr/>
          <p:nvPr/>
        </p:nvSpPr>
        <p:spPr>
          <a:xfrm>
            <a:off x="457200" y="45491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5491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41248" y="4475988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Load Index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notification count &amp; smartphone unlocks</a:t>
            </a:r>
            <a:endParaRPr lang="en-US" sz="1080" dirty="0"/>
          </a:p>
        </p:txBody>
      </p:sp>
      <p:sp>
        <p:nvSpPr>
          <p:cNvPr id="40" name="Shape 37"/>
          <p:cNvSpPr/>
          <p:nvPr/>
        </p:nvSpPr>
        <p:spPr>
          <a:xfrm>
            <a:off x="6291072" y="45491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41" name="Text 38"/>
          <p:cNvSpPr/>
          <p:nvPr/>
        </p:nvSpPr>
        <p:spPr>
          <a:xfrm>
            <a:off x="6291072" y="45491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675120" y="4475988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Usage Rate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employee-days with late-night device usage flagged</a:t>
            </a:r>
            <a:endParaRPr lang="en-US" sz="1080" dirty="0"/>
          </a:p>
        </p:txBody>
      </p:sp>
      <p:sp>
        <p:nvSpPr>
          <p:cNvPr id="43" name="Shape 40"/>
          <p:cNvSpPr/>
          <p:nvPr/>
        </p:nvSpPr>
        <p:spPr>
          <a:xfrm>
            <a:off x="457200" y="51755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5175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41248" y="5102352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Precision &amp; Recall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classifier quality metrics for the burnout-risk model</a:t>
            </a:r>
            <a:endParaRPr lang="en-US" sz="1080" dirty="0"/>
          </a:p>
        </p:txBody>
      </p:sp>
      <p:sp>
        <p:nvSpPr>
          <p:cNvPr id="46" name="Shape 43"/>
          <p:cNvSpPr/>
          <p:nvPr/>
        </p:nvSpPr>
        <p:spPr>
          <a:xfrm>
            <a:off x="6291072" y="51755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1B4F"/>
          </a:solidFill>
          <a:ln/>
        </p:spPr>
      </p:sp>
      <p:sp>
        <p:nvSpPr>
          <p:cNvPr id="47" name="Text 44"/>
          <p:cNvSpPr/>
          <p:nvPr/>
        </p:nvSpPr>
        <p:spPr>
          <a:xfrm>
            <a:off x="6291072" y="5175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675120" y="5102352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Digital-Wellness ROI — </a:t>
            </a: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uplift associated with reduced screen/notification load</a:t>
            </a:r>
            <a:endParaRPr lang="en-US" sz="1080" dirty="0"/>
          </a:p>
        </p:txBody>
      </p:sp>
      <p:sp>
        <p:nvSpPr>
          <p:cNvPr id="49" name="Text 46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Analysis Plan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happening?” — quantifying volume, distribution and structure across the workforce log.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6112" y="1636776"/>
            <a:ext cx="5001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Employee-day counts by occupation &amp; work mode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96112" y="1965960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across 7 occupations and Remote/Hybrid/Office work modes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291072" y="1691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/>
        </p:spPr>
      </p:sp>
      <p:sp>
        <p:nvSpPr>
          <p:cNvPr id="13" name="Text 10"/>
          <p:cNvSpPr/>
          <p:nvPr/>
        </p:nvSpPr>
        <p:spPr>
          <a:xfrm>
            <a:off x="6291072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29984" y="1636776"/>
            <a:ext cx="5001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Digital-habit distributions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729984" y="1965960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spread of screen time, social media &amp; doomscrolling hours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96112" y="2871216"/>
            <a:ext cx="5001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recovery distribution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96112" y="3200400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sleep hours &amp; sleep-quality scores across the workforce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91072" y="29260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/>
        </p:spPr>
      </p:sp>
      <p:sp>
        <p:nvSpPr>
          <p:cNvPr id="21" name="Text 18"/>
          <p:cNvSpPr/>
          <p:nvPr/>
        </p:nvSpPr>
        <p:spPr>
          <a:xfrm>
            <a:off x="6291072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29984" y="2871216"/>
            <a:ext cx="5001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&amp; mental-state breakdown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729984" y="3200400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and % share across Focused, Balanced, Distracted &amp; Burnout states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457200" y="41605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160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96112" y="4105656"/>
            <a:ext cx="5001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score distribution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96112" y="4434840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&amp; spread of productivity score, and share by tier (Low/Medium/High)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291072" y="41605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/>
        </p:spPr>
      </p:sp>
      <p:sp>
        <p:nvSpPr>
          <p:cNvPr id="29" name="Text 26"/>
          <p:cNvSpPr/>
          <p:nvPr/>
        </p:nvSpPr>
        <p:spPr>
          <a:xfrm>
            <a:off x="6291072" y="4160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729984" y="4105656"/>
            <a:ext cx="5001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&amp; interruption load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729984" y="4434840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notification count, smartphone unlocks &amp; app-switch frequency</a:t>
            </a:r>
            <a:endParaRPr lang="en-US" sz="1080" dirty="0"/>
          </a:p>
        </p:txBody>
      </p:sp>
      <p:sp>
        <p:nvSpPr>
          <p:cNvPr id="32" name="Shape 29"/>
          <p:cNvSpPr/>
          <p:nvPr/>
        </p:nvSpPr>
        <p:spPr>
          <a:xfrm>
            <a:off x="457200" y="539496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5394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96112" y="5340096"/>
            <a:ext cx="5001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&amp; fatigue indicator profile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96112" y="5669280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stress level, mental fatigue &amp; emotional exhaustion scores</a:t>
            </a:r>
            <a:endParaRPr lang="en-US" sz="1080" dirty="0"/>
          </a:p>
        </p:txBody>
      </p:sp>
      <p:sp>
        <p:nvSpPr>
          <p:cNvPr id="36" name="Text 33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Analysis Plan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it happening?” — drilling into root causes behind the descriptive patterns above.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6112" y="1636776"/>
            <a:ext cx="5001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burnout risk correlates with lower productivity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96112" y="1993392"/>
            <a:ext cx="5001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link between burnout_risk and productivity_score (r = -0.38)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291072" y="1691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3" name="Text 10"/>
          <p:cNvSpPr/>
          <p:nvPr/>
        </p:nvSpPr>
        <p:spPr>
          <a:xfrm>
            <a:off x="6291072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29984" y="1636776"/>
            <a:ext cx="5001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screen time predicts burnout risk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729984" y="1993392"/>
            <a:ext cx="5001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positive correlation between daily_screen_time and burnout_risk (r = 0.22)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457200" y="3063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063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96112" y="3008376"/>
            <a:ext cx="5001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sleep deficit relates to burnout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96112" y="3364992"/>
            <a:ext cx="5001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inverse correlation between sleep_hours and burnout_risk (r = -0.13)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91072" y="3063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21" name="Text 18"/>
          <p:cNvSpPr/>
          <p:nvPr/>
        </p:nvSpPr>
        <p:spPr>
          <a:xfrm>
            <a:off x="6291072" y="3063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29984" y="3008376"/>
            <a:ext cx="5001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occupation barely moves burnout risk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729984" y="3364992"/>
            <a:ext cx="5001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check: is risk driven by habits rather than role (range across 7 roles &lt; 0.2 pts)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457200" y="44348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434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96112" y="4379976"/>
            <a:ext cx="5001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Focused vs. Burnout productivity gap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96112" y="4736592"/>
            <a:ext cx="5001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digital habits &amp; sleep between the two mental-state groups (~8.5-pt productivity gap)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291072" y="44348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29" name="Text 26"/>
          <p:cNvSpPr/>
          <p:nvPr/>
        </p:nvSpPr>
        <p:spPr>
          <a:xfrm>
            <a:off x="6291072" y="4434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729984" y="4379976"/>
            <a:ext cx="5001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habits most strongly predict low productivity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729984" y="4736592"/>
            <a:ext cx="5001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ranking across screen time, sleep, stress &amp; focus variables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Requirements — Power BI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241B4F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9" name="Image 1" descr="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7190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6367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40080" y="21762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0080" y="26517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4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 tracked, avg burnout risk, avg productivity, trend vs. prior period</a:t>
            </a:r>
            <a:endParaRPr lang="en-US" sz="1040" dirty="0"/>
          </a:p>
        </p:txBody>
      </p:sp>
      <p:sp>
        <p:nvSpPr>
          <p:cNvPr id="13" name="Shape 9"/>
          <p:cNvSpPr/>
          <p:nvPr/>
        </p:nvSpPr>
        <p:spPr>
          <a:xfrm>
            <a:off x="4233672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241B4F"/>
          </a:solidFill>
          <a:ln/>
        </p:spPr>
      </p:sp>
      <p:sp>
        <p:nvSpPr>
          <p:cNvPr id="14" name="Shape 10"/>
          <p:cNvSpPr/>
          <p:nvPr/>
        </p:nvSpPr>
        <p:spPr>
          <a:xfrm>
            <a:off x="4416552" y="1600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2" descr="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7190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10912" y="16367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416552" y="21762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&amp; Work-Mode Analysis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16552" y="26517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4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&amp; productivity benchmarks across 7 roles and Remote/Hybrid/Office</a:t>
            </a:r>
            <a:endParaRPr lang="en-US" sz="1040" dirty="0"/>
          </a:p>
        </p:txBody>
      </p:sp>
      <p:sp>
        <p:nvSpPr>
          <p:cNvPr id="19" name="Shape 14"/>
          <p:cNvSpPr/>
          <p:nvPr/>
        </p:nvSpPr>
        <p:spPr>
          <a:xfrm>
            <a:off x="8010144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241B4F"/>
          </a:solidFill>
          <a:ln/>
        </p:spPr>
      </p:sp>
      <p:sp>
        <p:nvSpPr>
          <p:cNvPr id="20" name="Shape 15"/>
          <p:cNvSpPr/>
          <p:nvPr/>
        </p:nvSpPr>
        <p:spPr>
          <a:xfrm>
            <a:off x="8193024" y="1600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17190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87384" y="16367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8193024" y="21762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Habit Explorer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193024" y="26517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4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time, notifications, doomscrolling &amp; app-switching patterns</a:t>
            </a:r>
            <a:endParaRPr lang="en-US" sz="1040" dirty="0"/>
          </a:p>
        </p:txBody>
      </p:sp>
      <p:sp>
        <p:nvSpPr>
          <p:cNvPr id="25" name="Shape 19"/>
          <p:cNvSpPr/>
          <p:nvPr/>
        </p:nvSpPr>
        <p:spPr>
          <a:xfrm>
            <a:off x="457200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FEAFA"/>
          </a:solidFill>
          <a:ln/>
        </p:spPr>
      </p:sp>
      <p:sp>
        <p:nvSpPr>
          <p:cNvPr id="26" name="Shape 20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icons/moon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05079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34440" y="39684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640080" y="45079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Recovery Monitor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0080" y="49834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4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Sleep-hours distribution, sleep-quality trend, late-night usage tracking</a:t>
            </a:r>
            <a:endParaRPr lang="en-US" sz="1040" dirty="0"/>
          </a:p>
        </p:txBody>
      </p:sp>
      <p:sp>
        <p:nvSpPr>
          <p:cNvPr id="31" name="Shape 24"/>
          <p:cNvSpPr/>
          <p:nvPr/>
        </p:nvSpPr>
        <p:spPr>
          <a:xfrm>
            <a:off x="4233672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FEAFA"/>
          </a:solidFill>
          <a:ln/>
        </p:spPr>
      </p:sp>
      <p:sp>
        <p:nvSpPr>
          <p:cNvPr id="32" name="Shape 25"/>
          <p:cNvSpPr/>
          <p:nvPr/>
        </p:nvSpPr>
        <p:spPr>
          <a:xfrm>
            <a:off x="4416552" y="3931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icons/warning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4050792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010912" y="39684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416552" y="45079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Monitor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4416552" y="49834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4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Burnout-risk distribution, mental-state mix, high-risk employee alerts</a:t>
            </a:r>
            <a:endParaRPr lang="en-US" sz="1040" dirty="0"/>
          </a:p>
        </p:txBody>
      </p:sp>
      <p:sp>
        <p:nvSpPr>
          <p:cNvPr id="37" name="Shape 29"/>
          <p:cNvSpPr/>
          <p:nvPr/>
        </p:nvSpPr>
        <p:spPr>
          <a:xfrm>
            <a:off x="8010144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FEAFA"/>
          </a:solidFill>
          <a:ln/>
        </p:spPr>
      </p:sp>
      <p:sp>
        <p:nvSpPr>
          <p:cNvPr id="38" name="Shape 30"/>
          <p:cNvSpPr/>
          <p:nvPr/>
        </p:nvSpPr>
        <p:spPr>
          <a:xfrm>
            <a:off x="8193024" y="3931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6" descr="icons/chartline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1896" y="4050792"/>
            <a:ext cx="219456" cy="21945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787384" y="39684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</a:t>
            </a:r>
            <a:endParaRPr lang="en-US" sz="950" dirty="0"/>
          </a:p>
        </p:txBody>
      </p:sp>
      <p:sp>
        <p:nvSpPr>
          <p:cNvPr id="41" name="Text 32"/>
          <p:cNvSpPr/>
          <p:nvPr/>
        </p:nvSpPr>
        <p:spPr>
          <a:xfrm>
            <a:off x="8193024" y="45079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Driver Analysis</a:t>
            </a:r>
            <a:endParaRPr lang="en-US" sz="1350" dirty="0"/>
          </a:p>
        </p:txBody>
      </p:sp>
      <p:sp>
        <p:nvSpPr>
          <p:cNvPr id="42" name="Text 33"/>
          <p:cNvSpPr/>
          <p:nvPr/>
        </p:nvSpPr>
        <p:spPr>
          <a:xfrm>
            <a:off x="8193024" y="49834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4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view of digital habits, sleep &amp; stress against productivity score</a:t>
            </a:r>
            <a:endParaRPr lang="en-US" sz="1040" dirty="0"/>
          </a:p>
        </p:txBody>
      </p:sp>
      <p:sp>
        <p:nvSpPr>
          <p:cNvPr id="43" name="Text 34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Wireframe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mockup — Page 1 “Executive Overview” — illustrating chart type &amp; placement, not final design.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11274552" cy="4892040"/>
          </a:xfrm>
          <a:prstGeom prst="roundRect">
            <a:avLst>
              <a:gd name="adj" fmla="val 1121"/>
            </a:avLst>
          </a:prstGeom>
          <a:solidFill>
            <a:srgbClr val="F5F3FB"/>
          </a:solidFill>
          <a:ln w="12700">
            <a:solidFill>
              <a:srgbClr val="B9C4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359152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59152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&amp; Work-Mode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123944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23944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Habit Explorer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888736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88736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Recovery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7653528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53528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Monitor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418320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0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Drivers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94360" y="2157984"/>
            <a:ext cx="1600200" cy="4206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685800" y="221284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/ SLICERS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04088" y="2542032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25420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04088" y="3163824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316382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04088" y="3785616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378561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4088" y="4407408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44074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State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04088" y="5029200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50292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Band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377440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4" name="Text 31"/>
          <p:cNvSpPr/>
          <p:nvPr/>
        </p:nvSpPr>
        <p:spPr>
          <a:xfrm>
            <a:off x="2377440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2377440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Employee-Days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704588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7" name="Text 34"/>
          <p:cNvSpPr/>
          <p:nvPr/>
        </p:nvSpPr>
        <p:spPr>
          <a:xfrm>
            <a:off x="4704588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704588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Burnout Risk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7031736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40" name="Text 37"/>
          <p:cNvSpPr/>
          <p:nvPr/>
        </p:nvSpPr>
        <p:spPr>
          <a:xfrm>
            <a:off x="7031736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031736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Burnout Risk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9358884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43" name="Text 40"/>
          <p:cNvSpPr/>
          <p:nvPr/>
        </p:nvSpPr>
        <p:spPr>
          <a:xfrm>
            <a:off x="9358884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358884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Productivity Score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2377440" y="3099816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46" name="Text 43"/>
          <p:cNvSpPr/>
          <p:nvPr/>
        </p:nvSpPr>
        <p:spPr>
          <a:xfrm>
            <a:off x="2468880" y="3154680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2606040" y="4096741"/>
            <a:ext cx="421889" cy="315239"/>
          </a:xfrm>
          <a:prstGeom prst="rect">
            <a:avLst/>
          </a:prstGeom>
          <a:solidFill>
            <a:srgbClr val="241B4F"/>
          </a:solidFill>
          <a:ln/>
        </p:spPr>
      </p:sp>
      <p:sp>
        <p:nvSpPr>
          <p:cNvPr id="48" name="Shape 45"/>
          <p:cNvSpPr/>
          <p:nvPr/>
        </p:nvSpPr>
        <p:spPr>
          <a:xfrm>
            <a:off x="3286506" y="3871570"/>
            <a:ext cx="421889" cy="540410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49" name="Shape 46"/>
          <p:cNvSpPr/>
          <p:nvPr/>
        </p:nvSpPr>
        <p:spPr>
          <a:xfrm>
            <a:off x="3966972" y="4006672"/>
            <a:ext cx="421889" cy="405308"/>
          </a:xfrm>
          <a:prstGeom prst="rect">
            <a:avLst/>
          </a:prstGeom>
          <a:solidFill>
            <a:srgbClr val="241B4F"/>
          </a:solidFill>
          <a:ln/>
        </p:spPr>
      </p:sp>
      <p:sp>
        <p:nvSpPr>
          <p:cNvPr id="50" name="Shape 47"/>
          <p:cNvSpPr/>
          <p:nvPr/>
        </p:nvSpPr>
        <p:spPr>
          <a:xfrm>
            <a:off x="4647438" y="3646399"/>
            <a:ext cx="421889" cy="765581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51" name="Shape 48"/>
          <p:cNvSpPr/>
          <p:nvPr/>
        </p:nvSpPr>
        <p:spPr>
          <a:xfrm>
            <a:off x="5327904" y="3916604"/>
            <a:ext cx="421889" cy="495376"/>
          </a:xfrm>
          <a:prstGeom prst="rect">
            <a:avLst/>
          </a:prstGeom>
          <a:solidFill>
            <a:srgbClr val="241B4F"/>
          </a:solidFill>
          <a:ln/>
        </p:spPr>
      </p:sp>
      <p:sp>
        <p:nvSpPr>
          <p:cNvPr id="52" name="Shape 49"/>
          <p:cNvSpPr/>
          <p:nvPr/>
        </p:nvSpPr>
        <p:spPr>
          <a:xfrm>
            <a:off x="6008370" y="3781501"/>
            <a:ext cx="421889" cy="630479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53" name="Shape 50"/>
          <p:cNvSpPr/>
          <p:nvPr/>
        </p:nvSpPr>
        <p:spPr>
          <a:xfrm>
            <a:off x="2560320" y="4411980"/>
            <a:ext cx="4174236" cy="0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487168" y="4393692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Burnout Risk by Occupation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054596" y="3099816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56" name="Text 53"/>
          <p:cNvSpPr/>
          <p:nvPr/>
        </p:nvSpPr>
        <p:spPr>
          <a:xfrm>
            <a:off x="7146036" y="3154680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 flipV="1">
            <a:off x="7283196" y="3938778"/>
            <a:ext cx="680466" cy="18928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963662" y="3938778"/>
            <a:ext cx="680466" cy="94640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V="1">
            <a:off x="8644128" y="3749497"/>
            <a:ext cx="680466" cy="28392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324594" y="3749497"/>
            <a:ext cx="680466" cy="94640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10005060" y="3607537"/>
            <a:ext cx="680466" cy="23660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685526" y="3607537"/>
            <a:ext cx="680466" cy="18928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237476" y="4411980"/>
            <a:ext cx="4174236" cy="0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164324" y="4393692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Score Trend</a:t>
            </a:r>
            <a:endParaRPr lang="en-US" sz="750" dirty="0"/>
          </a:p>
        </p:txBody>
      </p:sp>
      <p:sp>
        <p:nvSpPr>
          <p:cNvPr id="65" name="Shape 62"/>
          <p:cNvSpPr/>
          <p:nvPr/>
        </p:nvSpPr>
        <p:spPr>
          <a:xfrm>
            <a:off x="2377440" y="4732020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66" name="Text 63"/>
          <p:cNvSpPr/>
          <p:nvPr/>
        </p:nvSpPr>
        <p:spPr>
          <a:xfrm>
            <a:off x="2468880" y="4786884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4144518" y="5116068"/>
            <a:ext cx="1005840" cy="1005840"/>
          </a:xfrm>
          <a:prstGeom prst="pie">
            <a:avLst>
              <a:gd name="adj1" fmla="val 0"/>
              <a:gd name="adj2" fmla="val 13800000"/>
            </a:avLst>
          </a:prstGeom>
          <a:solidFill>
            <a:srgbClr val="241B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144518" y="5116068"/>
            <a:ext cx="1005840" cy="1005840"/>
          </a:xfrm>
          <a:prstGeom prst="pie">
            <a:avLst>
              <a:gd name="adj1" fmla="val 13800000"/>
              <a:gd name="adj2" fmla="val 21600000"/>
            </a:avLst>
          </a:prstGeom>
          <a:solidFill>
            <a:srgbClr val="2EC4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426153" y="5397703"/>
            <a:ext cx="442570" cy="4425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0" name="Text 67"/>
          <p:cNvSpPr/>
          <p:nvPr/>
        </p:nvSpPr>
        <p:spPr>
          <a:xfrm>
            <a:off x="2487168" y="6025896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State Mix (4 Categories)</a:t>
            </a:r>
            <a:endParaRPr lang="en-US" sz="750" dirty="0"/>
          </a:p>
        </p:txBody>
      </p:sp>
      <p:sp>
        <p:nvSpPr>
          <p:cNvPr id="71" name="Shape 68"/>
          <p:cNvSpPr/>
          <p:nvPr/>
        </p:nvSpPr>
        <p:spPr>
          <a:xfrm>
            <a:off x="7054596" y="4732020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72" name="Text 69"/>
          <p:cNvSpPr/>
          <p:nvPr/>
        </p:nvSpPr>
        <p:spPr>
          <a:xfrm>
            <a:off x="7146036" y="4786884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7164324" y="5052060"/>
            <a:ext cx="4320540" cy="201168"/>
          </a:xfrm>
          <a:prstGeom prst="rect">
            <a:avLst/>
          </a:prstGeom>
          <a:solidFill>
            <a:srgbClr val="241B4F"/>
          </a:solidFill>
          <a:ln/>
        </p:spPr>
      </p:sp>
      <p:sp>
        <p:nvSpPr>
          <p:cNvPr id="74" name="Shape 71"/>
          <p:cNvSpPr/>
          <p:nvPr/>
        </p:nvSpPr>
        <p:spPr>
          <a:xfrm>
            <a:off x="7164324" y="5253228"/>
            <a:ext cx="4320540" cy="209169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255764" y="5330380"/>
            <a:ext cx="1512189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6" name="Shape 73"/>
          <p:cNvSpPr/>
          <p:nvPr/>
        </p:nvSpPr>
        <p:spPr>
          <a:xfrm>
            <a:off x="7164324" y="5462397"/>
            <a:ext cx="4320540" cy="209169"/>
          </a:xfrm>
          <a:prstGeom prst="rect">
            <a:avLst/>
          </a:prstGeom>
          <a:solidFill>
            <a:srgbClr val="EFEAFA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255764" y="5539549"/>
            <a:ext cx="1944243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8" name="Shape 75"/>
          <p:cNvSpPr/>
          <p:nvPr/>
        </p:nvSpPr>
        <p:spPr>
          <a:xfrm>
            <a:off x="7164324" y="5671566"/>
            <a:ext cx="4320540" cy="209169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255764" y="5748718"/>
            <a:ext cx="2376297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80" name="Shape 77"/>
          <p:cNvSpPr/>
          <p:nvPr/>
        </p:nvSpPr>
        <p:spPr>
          <a:xfrm>
            <a:off x="7164324" y="5880735"/>
            <a:ext cx="4320540" cy="209169"/>
          </a:xfrm>
          <a:prstGeom prst="rect">
            <a:avLst/>
          </a:prstGeom>
          <a:solidFill>
            <a:srgbClr val="EFEAFA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255764" y="5957887"/>
            <a:ext cx="1512189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82" name="Text 79"/>
          <p:cNvSpPr/>
          <p:nvPr/>
        </p:nvSpPr>
        <p:spPr>
          <a:xfrm>
            <a:off x="7164324" y="6025896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Employee Watchlist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2 OF 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Occupation &amp; Work-Mode Analysis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and productivity benchmarks across 7 roles and 3 work modes.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11274552" cy="4892040"/>
          </a:xfrm>
          <a:prstGeom prst="roundRect">
            <a:avLst>
              <a:gd name="adj" fmla="val 1121"/>
            </a:avLst>
          </a:prstGeom>
          <a:solidFill>
            <a:srgbClr val="F5F3FB"/>
          </a:solidFill>
          <a:ln w="12700">
            <a:solidFill>
              <a:srgbClr val="B9C4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359152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59152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&amp; Work-Mode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123944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23944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Habit Explorer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888736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88736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Recovery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7653528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53528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Monitor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418320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0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Drivers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94360" y="2157984"/>
            <a:ext cx="1600200" cy="4206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685800" y="221284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/ SLICERS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04088" y="2542032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25420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04088" y="3163824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316382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04088" y="3785616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378561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4088" y="4407408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44074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Band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377440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2" name="Text 29"/>
          <p:cNvSpPr/>
          <p:nvPr/>
        </p:nvSpPr>
        <p:spPr>
          <a:xfrm>
            <a:off x="2377440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2377440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Occupations Tracked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4704588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5" name="Text 32"/>
          <p:cNvSpPr/>
          <p:nvPr/>
        </p:nvSpPr>
        <p:spPr>
          <a:xfrm>
            <a:off x="4704588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704588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Share</a:t>
            </a:r>
            <a:endParaRPr lang="en-US" sz="720" dirty="0"/>
          </a:p>
        </p:txBody>
      </p:sp>
      <p:sp>
        <p:nvSpPr>
          <p:cNvPr id="37" name="Shape 34"/>
          <p:cNvSpPr/>
          <p:nvPr/>
        </p:nvSpPr>
        <p:spPr>
          <a:xfrm>
            <a:off x="7031736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8" name="Text 35"/>
          <p:cNvSpPr/>
          <p:nvPr/>
        </p:nvSpPr>
        <p:spPr>
          <a:xfrm>
            <a:off x="7031736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031736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(All Modes ~Equal)</a:t>
            </a:r>
            <a:endParaRPr lang="en-US" sz="720" dirty="0"/>
          </a:p>
        </p:txBody>
      </p:sp>
      <p:sp>
        <p:nvSpPr>
          <p:cNvPr id="40" name="Shape 37"/>
          <p:cNvSpPr/>
          <p:nvPr/>
        </p:nvSpPr>
        <p:spPr>
          <a:xfrm>
            <a:off x="9358884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41" name="Text 38"/>
          <p:cNvSpPr/>
          <p:nvPr/>
        </p:nvSpPr>
        <p:spPr>
          <a:xfrm>
            <a:off x="9358884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358884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Risk (48.65)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2377440" y="3099816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2468880" y="3154680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606040" y="3556330"/>
            <a:ext cx="361619" cy="85565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6" name="Shape 43"/>
          <p:cNvSpPr/>
          <p:nvPr/>
        </p:nvSpPr>
        <p:spPr>
          <a:xfrm>
            <a:off x="3189297" y="3601364"/>
            <a:ext cx="361619" cy="810616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47" name="Shape 44"/>
          <p:cNvSpPr/>
          <p:nvPr/>
        </p:nvSpPr>
        <p:spPr>
          <a:xfrm>
            <a:off x="3772553" y="3646399"/>
            <a:ext cx="361619" cy="765581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8" name="Shape 45"/>
          <p:cNvSpPr/>
          <p:nvPr/>
        </p:nvSpPr>
        <p:spPr>
          <a:xfrm>
            <a:off x="4355810" y="3691433"/>
            <a:ext cx="361619" cy="720547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49" name="Shape 46"/>
          <p:cNvSpPr/>
          <p:nvPr/>
        </p:nvSpPr>
        <p:spPr>
          <a:xfrm>
            <a:off x="4939066" y="3709446"/>
            <a:ext cx="361619" cy="70253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0" name="Shape 47"/>
          <p:cNvSpPr/>
          <p:nvPr/>
        </p:nvSpPr>
        <p:spPr>
          <a:xfrm>
            <a:off x="5522323" y="3745474"/>
            <a:ext cx="361619" cy="666506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51" name="Shape 48"/>
          <p:cNvSpPr/>
          <p:nvPr/>
        </p:nvSpPr>
        <p:spPr>
          <a:xfrm>
            <a:off x="6105579" y="3799515"/>
            <a:ext cx="361619" cy="612465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2" name="Shape 49"/>
          <p:cNvSpPr/>
          <p:nvPr/>
        </p:nvSpPr>
        <p:spPr>
          <a:xfrm>
            <a:off x="2560320" y="4411980"/>
            <a:ext cx="4174236" cy="0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487168" y="4393692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Burnout Risk by Occupation (Ranked)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7054596" y="3099816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55" name="Text 52"/>
          <p:cNvSpPr/>
          <p:nvPr/>
        </p:nvSpPr>
        <p:spPr>
          <a:xfrm>
            <a:off x="7146036" y="3154680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283196" y="3601364"/>
            <a:ext cx="843778" cy="81061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7" name="Shape 54"/>
          <p:cNvSpPr/>
          <p:nvPr/>
        </p:nvSpPr>
        <p:spPr>
          <a:xfrm>
            <a:off x="8644128" y="3610371"/>
            <a:ext cx="843778" cy="801609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58" name="Shape 55"/>
          <p:cNvSpPr/>
          <p:nvPr/>
        </p:nvSpPr>
        <p:spPr>
          <a:xfrm>
            <a:off x="10005060" y="3610371"/>
            <a:ext cx="843778" cy="801609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9" name="Shape 56"/>
          <p:cNvSpPr/>
          <p:nvPr/>
        </p:nvSpPr>
        <p:spPr>
          <a:xfrm>
            <a:off x="7237476" y="4411980"/>
            <a:ext cx="4174236" cy="0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164324" y="4393692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Productivity by Work Mode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2377440" y="4732020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62" name="Text 59"/>
          <p:cNvSpPr/>
          <p:nvPr/>
        </p:nvSpPr>
        <p:spPr>
          <a:xfrm>
            <a:off x="2468880" y="4786884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4144518" y="5116068"/>
            <a:ext cx="1005840" cy="1005840"/>
          </a:xfrm>
          <a:prstGeom prst="pie">
            <a:avLst>
              <a:gd name="adj1" fmla="val 0"/>
              <a:gd name="adj2" fmla="val 13800000"/>
            </a:avLst>
          </a:prstGeom>
          <a:solidFill>
            <a:srgbClr val="241B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144518" y="5116068"/>
            <a:ext cx="1005840" cy="1005840"/>
          </a:xfrm>
          <a:prstGeom prst="pie">
            <a:avLst>
              <a:gd name="adj1" fmla="val 13800000"/>
              <a:gd name="adj2" fmla="val 21600000"/>
            </a:avLst>
          </a:prstGeom>
          <a:solidFill>
            <a:srgbClr val="2EC4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426153" y="5397703"/>
            <a:ext cx="442570" cy="4425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/>
          <p:nvPr/>
        </p:nvSpPr>
        <p:spPr>
          <a:xfrm>
            <a:off x="2487168" y="6025896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Employee-Days by Work Mode</a:t>
            </a:r>
            <a:endParaRPr lang="en-US" sz="750" dirty="0"/>
          </a:p>
        </p:txBody>
      </p:sp>
      <p:sp>
        <p:nvSpPr>
          <p:cNvPr id="67" name="Shape 64"/>
          <p:cNvSpPr/>
          <p:nvPr/>
        </p:nvSpPr>
        <p:spPr>
          <a:xfrm>
            <a:off x="7054596" y="4732020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68" name="Text 65"/>
          <p:cNvSpPr/>
          <p:nvPr/>
        </p:nvSpPr>
        <p:spPr>
          <a:xfrm>
            <a:off x="7146036" y="4786884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7164324" y="5052060"/>
            <a:ext cx="4320540" cy="201168"/>
          </a:xfrm>
          <a:prstGeom prst="rect">
            <a:avLst/>
          </a:prstGeom>
          <a:solidFill>
            <a:srgbClr val="241B4F"/>
          </a:solidFill>
          <a:ln/>
        </p:spPr>
      </p:sp>
      <p:sp>
        <p:nvSpPr>
          <p:cNvPr id="70" name="Shape 67"/>
          <p:cNvSpPr/>
          <p:nvPr/>
        </p:nvSpPr>
        <p:spPr>
          <a:xfrm>
            <a:off x="7164324" y="5253228"/>
            <a:ext cx="4320540" cy="209169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255764" y="5330380"/>
            <a:ext cx="1512189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2" name="Shape 69"/>
          <p:cNvSpPr/>
          <p:nvPr/>
        </p:nvSpPr>
        <p:spPr>
          <a:xfrm>
            <a:off x="7164324" y="5462397"/>
            <a:ext cx="4320540" cy="209169"/>
          </a:xfrm>
          <a:prstGeom prst="rect">
            <a:avLst/>
          </a:prstGeom>
          <a:solidFill>
            <a:srgbClr val="EFEAFA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255764" y="5539549"/>
            <a:ext cx="1944243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4" name="Shape 71"/>
          <p:cNvSpPr/>
          <p:nvPr/>
        </p:nvSpPr>
        <p:spPr>
          <a:xfrm>
            <a:off x="7164324" y="5671566"/>
            <a:ext cx="4320540" cy="209169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255764" y="5748718"/>
            <a:ext cx="2376297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6" name="Shape 73"/>
          <p:cNvSpPr/>
          <p:nvPr/>
        </p:nvSpPr>
        <p:spPr>
          <a:xfrm>
            <a:off x="7164324" y="5880735"/>
            <a:ext cx="4320540" cy="209169"/>
          </a:xfrm>
          <a:prstGeom prst="rect">
            <a:avLst/>
          </a:prstGeom>
          <a:solidFill>
            <a:srgbClr val="EFEAFA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255764" y="5957887"/>
            <a:ext cx="1512189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8" name="Text 75"/>
          <p:cNvSpPr/>
          <p:nvPr/>
        </p:nvSpPr>
        <p:spPr>
          <a:xfrm>
            <a:off x="7164324" y="6025896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Scorecard (Risk, Productivity)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 · DASHBOARD WIREFRAMES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3 OF 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Habit Explorer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time, notifications, doomscrolling and app-switching patterns.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11274552" cy="4892040"/>
          </a:xfrm>
          <a:prstGeom prst="roundRect">
            <a:avLst>
              <a:gd name="adj" fmla="val 1121"/>
            </a:avLst>
          </a:prstGeom>
          <a:solidFill>
            <a:srgbClr val="F5F3FB"/>
          </a:solidFill>
          <a:ln w="12700">
            <a:solidFill>
              <a:srgbClr val="B9C4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359152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59152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&amp; Work-Mode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123944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23944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Habit Explorer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888736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88736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Recovery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7653528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53528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Monitor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418320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0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Drivers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94360" y="2157984"/>
            <a:ext cx="1600200" cy="4206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685800" y="221284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/ SLICERS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04088" y="2542032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25420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04088" y="3163824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316382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04088" y="3785616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378561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Usage Type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4088" y="4407408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44074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377440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2" name="Text 29"/>
          <p:cNvSpPr/>
          <p:nvPr/>
        </p:nvSpPr>
        <p:spPr>
          <a:xfrm>
            <a:off x="2377440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2377440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Screen Time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4704588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5" name="Text 32"/>
          <p:cNvSpPr/>
          <p:nvPr/>
        </p:nvSpPr>
        <p:spPr>
          <a:xfrm>
            <a:off x="4704588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BCB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xx</a:t>
            </a:r>
          </a:p>
        </p:txBody>
      </p:sp>
      <p:sp>
        <p:nvSpPr>
          <p:cNvPr id="36" name="Text 33"/>
          <p:cNvSpPr/>
          <p:nvPr/>
        </p:nvSpPr>
        <p:spPr>
          <a:xfrm>
            <a:off x="4704588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Notifications</a:t>
            </a:r>
            <a:endParaRPr lang="en-US" sz="720" dirty="0"/>
          </a:p>
        </p:txBody>
      </p:sp>
      <p:sp>
        <p:nvSpPr>
          <p:cNvPr id="37" name="Shape 34"/>
          <p:cNvSpPr/>
          <p:nvPr/>
        </p:nvSpPr>
        <p:spPr>
          <a:xfrm>
            <a:off x="7031736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8" name="Text 35"/>
          <p:cNvSpPr/>
          <p:nvPr/>
        </p:nvSpPr>
        <p:spPr>
          <a:xfrm>
            <a:off x="7031736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031736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Smartphone Unlocks</a:t>
            </a:r>
            <a:endParaRPr lang="en-US" sz="720" dirty="0"/>
          </a:p>
        </p:txBody>
      </p:sp>
      <p:sp>
        <p:nvSpPr>
          <p:cNvPr id="40" name="Shape 37"/>
          <p:cNvSpPr/>
          <p:nvPr/>
        </p:nvSpPr>
        <p:spPr>
          <a:xfrm>
            <a:off x="9358884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41" name="Text 38"/>
          <p:cNvSpPr/>
          <p:nvPr/>
        </p:nvSpPr>
        <p:spPr>
          <a:xfrm>
            <a:off x="9358884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358884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App-Switch Frequency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2377440" y="3099816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2468880" y="3154680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606040" y="3781501"/>
            <a:ext cx="843778" cy="630479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6" name="Shape 43"/>
          <p:cNvSpPr/>
          <p:nvPr/>
        </p:nvSpPr>
        <p:spPr>
          <a:xfrm>
            <a:off x="3966972" y="3601364"/>
            <a:ext cx="843778" cy="810616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47" name="Shape 44"/>
          <p:cNvSpPr/>
          <p:nvPr/>
        </p:nvSpPr>
        <p:spPr>
          <a:xfrm>
            <a:off x="5327904" y="3916604"/>
            <a:ext cx="843778" cy="4953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8" name="Shape 45"/>
          <p:cNvSpPr/>
          <p:nvPr/>
        </p:nvSpPr>
        <p:spPr>
          <a:xfrm>
            <a:off x="2560320" y="4411980"/>
            <a:ext cx="4174236" cy="0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487168" y="4393692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by Device Usage Type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7054596" y="3099816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51" name="Text 48"/>
          <p:cNvSpPr/>
          <p:nvPr/>
        </p:nvSpPr>
        <p:spPr>
          <a:xfrm>
            <a:off x="7146036" y="3154680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7210044" y="3511296"/>
            <a:ext cx="501206" cy="272796"/>
          </a:xfrm>
          <a:prstGeom prst="rect">
            <a:avLst/>
          </a:prstGeom>
          <a:solidFill>
            <a:srgbClr val="2EC4B6">
              <a:alpha val="3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738682" y="3511296"/>
            <a:ext cx="501206" cy="272796"/>
          </a:xfrm>
          <a:prstGeom prst="rect">
            <a:avLst/>
          </a:prstGeom>
          <a:solidFill>
            <a:srgbClr val="2EC4B6">
              <a:alpha val="7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267319" y="3511296"/>
            <a:ext cx="501206" cy="272796"/>
          </a:xfrm>
          <a:prstGeom prst="rect">
            <a:avLst/>
          </a:prstGeom>
          <a:solidFill>
            <a:srgbClr val="2EC4B6">
              <a:alpha val="20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795957" y="3511296"/>
            <a:ext cx="501206" cy="272796"/>
          </a:xfrm>
          <a:prstGeom prst="rect">
            <a:avLst/>
          </a:prstGeom>
          <a:solidFill>
            <a:srgbClr val="2EC4B6">
              <a:alpha val="90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9324594" y="3511296"/>
            <a:ext cx="501206" cy="272796"/>
          </a:xfrm>
          <a:prstGeom prst="rect">
            <a:avLst/>
          </a:prstGeom>
          <a:solidFill>
            <a:srgbClr val="2EC4B6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853232" y="3511296"/>
            <a:ext cx="501206" cy="272796"/>
          </a:xfrm>
          <a:prstGeom prst="rect">
            <a:avLst/>
          </a:prstGeom>
          <a:solidFill>
            <a:srgbClr val="2EC4B6">
              <a:alpha val="1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10381869" y="3511296"/>
            <a:ext cx="501206" cy="272796"/>
          </a:xfrm>
          <a:prstGeom prst="rect">
            <a:avLst/>
          </a:prstGeom>
          <a:solidFill>
            <a:srgbClr val="2EC4B6">
              <a:alpha val="8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10910507" y="3511296"/>
            <a:ext cx="501206" cy="272796"/>
          </a:xfrm>
          <a:prstGeom prst="rect">
            <a:avLst/>
          </a:prstGeom>
          <a:solidFill>
            <a:srgbClr val="2EC4B6">
              <a:alpha val="4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7210044" y="3811524"/>
            <a:ext cx="501206" cy="272796"/>
          </a:xfrm>
          <a:prstGeom prst="rect">
            <a:avLst/>
          </a:prstGeom>
          <a:solidFill>
            <a:srgbClr val="2EC4B6">
              <a:alpha val="60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7738682" y="3811524"/>
            <a:ext cx="501206" cy="272796"/>
          </a:xfrm>
          <a:prstGeom prst="rect">
            <a:avLst/>
          </a:prstGeom>
          <a:solidFill>
            <a:srgbClr val="2EC4B6">
              <a:alpha val="20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8267319" y="3811524"/>
            <a:ext cx="501206" cy="272796"/>
          </a:xfrm>
          <a:prstGeom prst="rect">
            <a:avLst/>
          </a:prstGeom>
          <a:solidFill>
            <a:srgbClr val="2EC4B6">
              <a:alpha val="90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8795957" y="3811524"/>
            <a:ext cx="501206" cy="272796"/>
          </a:xfrm>
          <a:prstGeom prst="rect">
            <a:avLst/>
          </a:prstGeom>
          <a:solidFill>
            <a:srgbClr val="2EC4B6">
              <a:alpha val="3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324594" y="3811524"/>
            <a:ext cx="501206" cy="272796"/>
          </a:xfrm>
          <a:prstGeom prst="rect">
            <a:avLst/>
          </a:prstGeom>
          <a:solidFill>
            <a:srgbClr val="2EC4B6">
              <a:alpha val="7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853232" y="3811524"/>
            <a:ext cx="501206" cy="272796"/>
          </a:xfrm>
          <a:prstGeom prst="rect">
            <a:avLst/>
          </a:prstGeom>
          <a:solidFill>
            <a:srgbClr val="2EC4B6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10381869" y="3811524"/>
            <a:ext cx="501206" cy="272796"/>
          </a:xfrm>
          <a:prstGeom prst="rect">
            <a:avLst/>
          </a:prstGeom>
          <a:solidFill>
            <a:srgbClr val="2EC4B6">
              <a:alpha val="1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10910507" y="3811524"/>
            <a:ext cx="501206" cy="272796"/>
          </a:xfrm>
          <a:prstGeom prst="rect">
            <a:avLst/>
          </a:prstGeom>
          <a:solidFill>
            <a:srgbClr val="2EC4B6">
              <a:alpha val="80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7210044" y="4111752"/>
            <a:ext cx="501206" cy="272796"/>
          </a:xfrm>
          <a:prstGeom prst="rect">
            <a:avLst/>
          </a:prstGeom>
          <a:solidFill>
            <a:srgbClr val="2EC4B6">
              <a:alpha val="40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7738682" y="4111752"/>
            <a:ext cx="501206" cy="272796"/>
          </a:xfrm>
          <a:prstGeom prst="rect">
            <a:avLst/>
          </a:prstGeom>
          <a:solidFill>
            <a:srgbClr val="2EC4B6">
              <a:alpha val="90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8267319" y="4111752"/>
            <a:ext cx="501206" cy="272796"/>
          </a:xfrm>
          <a:prstGeom prst="rect">
            <a:avLst/>
          </a:prstGeom>
          <a:solidFill>
            <a:srgbClr val="2EC4B6">
              <a:alpha val="2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8795957" y="4111752"/>
            <a:ext cx="501206" cy="272796"/>
          </a:xfrm>
          <a:prstGeom prst="rect">
            <a:avLst/>
          </a:prstGeom>
          <a:solidFill>
            <a:srgbClr val="2EC4B6">
              <a:alpha val="6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9324594" y="4111752"/>
            <a:ext cx="501206" cy="272796"/>
          </a:xfrm>
          <a:prstGeom prst="rect">
            <a:avLst/>
          </a:prstGeom>
          <a:solidFill>
            <a:srgbClr val="2EC4B6">
              <a:alpha val="3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9853232" y="4111752"/>
            <a:ext cx="501206" cy="272796"/>
          </a:xfrm>
          <a:prstGeom prst="rect">
            <a:avLst/>
          </a:prstGeom>
          <a:solidFill>
            <a:srgbClr val="2EC4B6">
              <a:alpha val="8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10381869" y="4111752"/>
            <a:ext cx="501206" cy="272796"/>
          </a:xfrm>
          <a:prstGeom prst="rect">
            <a:avLst/>
          </a:prstGeom>
          <a:solidFill>
            <a:srgbClr val="2EC4B6">
              <a:alpha val="50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10910507" y="4111752"/>
            <a:ext cx="501206" cy="272796"/>
          </a:xfrm>
          <a:prstGeom prst="rect">
            <a:avLst/>
          </a:prstGeom>
          <a:solidFill>
            <a:srgbClr val="2EC4B6">
              <a:alpha val="10000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7164324" y="4393692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Load Heatmap by Hour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2377440" y="4732020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78" name="Text 75"/>
          <p:cNvSpPr/>
          <p:nvPr/>
        </p:nvSpPr>
        <p:spPr>
          <a:xfrm>
            <a:off x="2468880" y="4786884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4144518" y="5116068"/>
            <a:ext cx="1005840" cy="1005840"/>
          </a:xfrm>
          <a:prstGeom prst="pie">
            <a:avLst>
              <a:gd name="adj1" fmla="val 0"/>
              <a:gd name="adj2" fmla="val 13800000"/>
            </a:avLst>
          </a:prstGeom>
          <a:solidFill>
            <a:srgbClr val="241B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144518" y="5116068"/>
            <a:ext cx="1005840" cy="1005840"/>
          </a:xfrm>
          <a:prstGeom prst="pie">
            <a:avLst>
              <a:gd name="adj1" fmla="val 13800000"/>
              <a:gd name="adj2" fmla="val 21600000"/>
            </a:avLst>
          </a:prstGeom>
          <a:solidFill>
            <a:srgbClr val="2EC4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426153" y="5397703"/>
            <a:ext cx="442570" cy="4425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Text 79"/>
          <p:cNvSpPr/>
          <p:nvPr/>
        </p:nvSpPr>
        <p:spPr>
          <a:xfrm>
            <a:off x="2487168" y="6025896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Usage Type Mix</a:t>
            </a:r>
            <a:endParaRPr lang="en-US" sz="750" dirty="0"/>
          </a:p>
        </p:txBody>
      </p:sp>
      <p:sp>
        <p:nvSpPr>
          <p:cNvPr id="83" name="Shape 80"/>
          <p:cNvSpPr/>
          <p:nvPr/>
        </p:nvSpPr>
        <p:spPr>
          <a:xfrm>
            <a:off x="7054596" y="4732020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84" name="Text 81"/>
          <p:cNvSpPr/>
          <p:nvPr/>
        </p:nvSpPr>
        <p:spPr>
          <a:xfrm>
            <a:off x="7146036" y="4786884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 flipV="1">
            <a:off x="7283196" y="5570982"/>
            <a:ext cx="680466" cy="18928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963662" y="5570982"/>
            <a:ext cx="680466" cy="94640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 flipV="1">
            <a:off x="8644128" y="5381701"/>
            <a:ext cx="680466" cy="28392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9324594" y="5381701"/>
            <a:ext cx="680466" cy="94640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flipV="1">
            <a:off x="10005060" y="5239741"/>
            <a:ext cx="680466" cy="23660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10685526" y="5239741"/>
            <a:ext cx="680466" cy="18928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237476" y="6044184"/>
            <a:ext cx="4174236" cy="0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164324" y="6025896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Doomscrolling Duration Trend</a:t>
            </a:r>
            <a:endParaRPr lang="en-US" sz="750" dirty="0"/>
          </a:p>
        </p:txBody>
      </p:sp>
      <p:sp>
        <p:nvSpPr>
          <p:cNvPr id="93" name="Text 90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 · DASHBOARD WIREFRAMES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4 OF 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&amp; Recovery Monitor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Sleep-hours distribution, sleep quality and late-night usage tracking.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11274552" cy="4892040"/>
          </a:xfrm>
          <a:prstGeom prst="roundRect">
            <a:avLst>
              <a:gd name="adj" fmla="val 1121"/>
            </a:avLst>
          </a:prstGeom>
          <a:solidFill>
            <a:srgbClr val="F5F3FB"/>
          </a:solidFill>
          <a:ln w="12700">
            <a:solidFill>
              <a:srgbClr val="B9C4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359152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59152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&amp; Work-Mode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123944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23944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Habit Explorer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888736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88736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Recovery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7653528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53528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Monitor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418320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0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Drivers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94360" y="2157984"/>
            <a:ext cx="1600200" cy="4206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685800" y="221284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/ SLICERS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04088" y="2542032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25420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04088" y="3163824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316382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04088" y="3785616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378561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4088" y="4407408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44074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 Band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377440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2" name="Text 29"/>
          <p:cNvSpPr/>
          <p:nvPr/>
        </p:nvSpPr>
        <p:spPr>
          <a:xfrm>
            <a:off x="2377440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2377440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 Hours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4704588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5" name="Text 32"/>
          <p:cNvSpPr/>
          <p:nvPr/>
        </p:nvSpPr>
        <p:spPr>
          <a:xfrm>
            <a:off x="4704588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704588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Deficit Rate (&lt;6 hrs)</a:t>
            </a:r>
            <a:endParaRPr lang="en-US" sz="720" dirty="0"/>
          </a:p>
        </p:txBody>
      </p:sp>
      <p:sp>
        <p:nvSpPr>
          <p:cNvPr id="37" name="Shape 34"/>
          <p:cNvSpPr/>
          <p:nvPr/>
        </p:nvSpPr>
        <p:spPr>
          <a:xfrm>
            <a:off x="7031736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8" name="Text 35"/>
          <p:cNvSpPr/>
          <p:nvPr/>
        </p:nvSpPr>
        <p:spPr>
          <a:xfrm>
            <a:off x="7031736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031736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 Quality</a:t>
            </a:r>
            <a:endParaRPr lang="en-US" sz="720" dirty="0"/>
          </a:p>
        </p:txBody>
      </p:sp>
      <p:sp>
        <p:nvSpPr>
          <p:cNvPr id="40" name="Shape 37"/>
          <p:cNvSpPr/>
          <p:nvPr/>
        </p:nvSpPr>
        <p:spPr>
          <a:xfrm>
            <a:off x="9358884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41" name="Text 38"/>
          <p:cNvSpPr/>
          <p:nvPr/>
        </p:nvSpPr>
        <p:spPr>
          <a:xfrm>
            <a:off x="9358884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358884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Usage Rate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2377440" y="3099816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2468880" y="3154680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606040" y="4231843"/>
            <a:ext cx="421889" cy="180137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6" name="Shape 43"/>
          <p:cNvSpPr/>
          <p:nvPr/>
        </p:nvSpPr>
        <p:spPr>
          <a:xfrm>
            <a:off x="3286506" y="4051706"/>
            <a:ext cx="421889" cy="360274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47" name="Shape 44"/>
          <p:cNvSpPr/>
          <p:nvPr/>
        </p:nvSpPr>
        <p:spPr>
          <a:xfrm>
            <a:off x="3966972" y="3826535"/>
            <a:ext cx="421889" cy="585445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8" name="Shape 45"/>
          <p:cNvSpPr/>
          <p:nvPr/>
        </p:nvSpPr>
        <p:spPr>
          <a:xfrm>
            <a:off x="4647438" y="3556330"/>
            <a:ext cx="421889" cy="855650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49" name="Shape 46"/>
          <p:cNvSpPr/>
          <p:nvPr/>
        </p:nvSpPr>
        <p:spPr>
          <a:xfrm>
            <a:off x="5327904" y="3781501"/>
            <a:ext cx="421889" cy="630479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0" name="Shape 47"/>
          <p:cNvSpPr/>
          <p:nvPr/>
        </p:nvSpPr>
        <p:spPr>
          <a:xfrm>
            <a:off x="6008370" y="4096741"/>
            <a:ext cx="421889" cy="315239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51" name="Shape 48"/>
          <p:cNvSpPr/>
          <p:nvPr/>
        </p:nvSpPr>
        <p:spPr>
          <a:xfrm>
            <a:off x="2560320" y="4411980"/>
            <a:ext cx="4174236" cy="0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487168" y="4393692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 Distribution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7054596" y="3099816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54" name="Text 51"/>
          <p:cNvSpPr/>
          <p:nvPr/>
        </p:nvSpPr>
        <p:spPr>
          <a:xfrm>
            <a:off x="7146036" y="3154680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 flipV="1">
            <a:off x="7283196" y="3938778"/>
            <a:ext cx="680466" cy="18928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963662" y="3938778"/>
            <a:ext cx="680466" cy="94640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V="1">
            <a:off x="8644128" y="3749497"/>
            <a:ext cx="680466" cy="28392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324594" y="3749497"/>
            <a:ext cx="680466" cy="94640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V="1">
            <a:off x="10005060" y="3607537"/>
            <a:ext cx="680466" cy="23660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685526" y="3607537"/>
            <a:ext cx="680466" cy="18928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237476" y="4411980"/>
            <a:ext cx="4174236" cy="0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164324" y="4393692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 Quality Trend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2377440" y="4732020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64" name="Text 61"/>
          <p:cNvSpPr/>
          <p:nvPr/>
        </p:nvSpPr>
        <p:spPr>
          <a:xfrm>
            <a:off x="2468880" y="4786884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4144518" y="5116068"/>
            <a:ext cx="1005840" cy="1005840"/>
          </a:xfrm>
          <a:prstGeom prst="pie">
            <a:avLst>
              <a:gd name="adj1" fmla="val 0"/>
              <a:gd name="adj2" fmla="val 14040000"/>
            </a:avLst>
          </a:prstGeom>
          <a:solidFill>
            <a:srgbClr val="241B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144518" y="5116068"/>
            <a:ext cx="1005840" cy="1005840"/>
          </a:xfrm>
          <a:prstGeom prst="pie">
            <a:avLst>
              <a:gd name="adj1" fmla="val 14040000"/>
              <a:gd name="adj2" fmla="val 21600000"/>
            </a:avLst>
          </a:prstGeom>
          <a:solidFill>
            <a:srgbClr val="2EC4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426153" y="5397703"/>
            <a:ext cx="442570" cy="4425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/>
          <p:nvPr/>
        </p:nvSpPr>
        <p:spPr>
          <a:xfrm>
            <a:off x="2487168" y="6025896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Usage Split (Yes / No)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7054596" y="4732020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70" name="Text 67"/>
          <p:cNvSpPr/>
          <p:nvPr/>
        </p:nvSpPr>
        <p:spPr>
          <a:xfrm>
            <a:off x="7146036" y="4786884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7164324" y="5052060"/>
            <a:ext cx="4320540" cy="201168"/>
          </a:xfrm>
          <a:prstGeom prst="rect">
            <a:avLst/>
          </a:prstGeom>
          <a:solidFill>
            <a:srgbClr val="241B4F"/>
          </a:solidFill>
          <a:ln/>
        </p:spPr>
      </p:sp>
      <p:sp>
        <p:nvSpPr>
          <p:cNvPr id="72" name="Shape 69"/>
          <p:cNvSpPr/>
          <p:nvPr/>
        </p:nvSpPr>
        <p:spPr>
          <a:xfrm>
            <a:off x="7164324" y="5253228"/>
            <a:ext cx="4320540" cy="209169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255764" y="5330380"/>
            <a:ext cx="1512189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4" name="Shape 71"/>
          <p:cNvSpPr/>
          <p:nvPr/>
        </p:nvSpPr>
        <p:spPr>
          <a:xfrm>
            <a:off x="7164324" y="5462397"/>
            <a:ext cx="4320540" cy="209169"/>
          </a:xfrm>
          <a:prstGeom prst="rect">
            <a:avLst/>
          </a:prstGeom>
          <a:solidFill>
            <a:srgbClr val="EFEAFA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255764" y="5539549"/>
            <a:ext cx="1944243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6" name="Shape 73"/>
          <p:cNvSpPr/>
          <p:nvPr/>
        </p:nvSpPr>
        <p:spPr>
          <a:xfrm>
            <a:off x="7164324" y="5671566"/>
            <a:ext cx="4320540" cy="209169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255764" y="5748718"/>
            <a:ext cx="2376297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8" name="Shape 75"/>
          <p:cNvSpPr/>
          <p:nvPr/>
        </p:nvSpPr>
        <p:spPr>
          <a:xfrm>
            <a:off x="7164324" y="5880735"/>
            <a:ext cx="4320540" cy="209169"/>
          </a:xfrm>
          <a:prstGeom prst="rect">
            <a:avLst/>
          </a:prstGeom>
          <a:solidFill>
            <a:srgbClr val="EFEAFA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255764" y="5957887"/>
            <a:ext cx="1512189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80" name="Text 77"/>
          <p:cNvSpPr/>
          <p:nvPr/>
        </p:nvSpPr>
        <p:spPr>
          <a:xfrm>
            <a:off x="7164324" y="6025896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Chronic Sleep Deficit</a:t>
            </a:r>
            <a:endParaRPr lang="en-US" sz="750" dirty="0"/>
          </a:p>
        </p:txBody>
      </p:sp>
      <p:sp>
        <p:nvSpPr>
          <p:cNvPr id="81" name="Text 7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 · DASHBOARD WIREFRAMES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5 OF 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Risk Monitor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Burnout-risk distribution, mental-state mix and high-risk alerts.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11274552" cy="4892040"/>
          </a:xfrm>
          <a:prstGeom prst="roundRect">
            <a:avLst>
              <a:gd name="adj" fmla="val 1121"/>
            </a:avLst>
          </a:prstGeom>
          <a:solidFill>
            <a:srgbClr val="F5F3FB"/>
          </a:solidFill>
          <a:ln w="12700">
            <a:solidFill>
              <a:srgbClr val="B9C4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359152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59152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&amp; Work-Mode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123944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23944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Habit Explorer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888736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88736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Recovery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7653528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53528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Monitor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418320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0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Drivers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94360" y="2157984"/>
            <a:ext cx="1600200" cy="4206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685800" y="221284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/ SLICERS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04088" y="2542032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25420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04088" y="3163824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316382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04088" y="3785616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378561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State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4088" y="4407408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44074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377440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2" name="Text 29"/>
          <p:cNvSpPr/>
          <p:nvPr/>
        </p:nvSpPr>
        <p:spPr>
          <a:xfrm>
            <a:off x="2377440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2377440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Burnout Risk (0–100)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4704588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5" name="Text 32"/>
          <p:cNvSpPr/>
          <p:nvPr/>
        </p:nvSpPr>
        <p:spPr>
          <a:xfrm>
            <a:off x="4704588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704588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Burnout Risk Rate</a:t>
            </a:r>
            <a:endParaRPr lang="en-US" sz="720" dirty="0"/>
          </a:p>
        </p:txBody>
      </p:sp>
      <p:sp>
        <p:nvSpPr>
          <p:cNvPr id="37" name="Shape 34"/>
          <p:cNvSpPr/>
          <p:nvPr/>
        </p:nvSpPr>
        <p:spPr>
          <a:xfrm>
            <a:off x="7031736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8" name="Text 35"/>
          <p:cNvSpPr/>
          <p:nvPr/>
        </p:nvSpPr>
        <p:spPr>
          <a:xfrm>
            <a:off x="7031736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031736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Mental-State Share</a:t>
            </a:r>
            <a:endParaRPr lang="en-US" sz="720" dirty="0"/>
          </a:p>
        </p:txBody>
      </p:sp>
      <p:sp>
        <p:nvSpPr>
          <p:cNvPr id="40" name="Shape 37"/>
          <p:cNvSpPr/>
          <p:nvPr/>
        </p:nvSpPr>
        <p:spPr>
          <a:xfrm>
            <a:off x="9358884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41" name="Text 38"/>
          <p:cNvSpPr/>
          <p:nvPr/>
        </p:nvSpPr>
        <p:spPr>
          <a:xfrm>
            <a:off x="9358884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358884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Risk–Productivity Correlation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2377440" y="3099816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2468880" y="3154680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606040" y="4141775"/>
            <a:ext cx="421889" cy="270205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6" name="Shape 43"/>
          <p:cNvSpPr/>
          <p:nvPr/>
        </p:nvSpPr>
        <p:spPr>
          <a:xfrm>
            <a:off x="3286506" y="3916604"/>
            <a:ext cx="421889" cy="495376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47" name="Shape 44"/>
          <p:cNvSpPr/>
          <p:nvPr/>
        </p:nvSpPr>
        <p:spPr>
          <a:xfrm>
            <a:off x="3966972" y="3646399"/>
            <a:ext cx="421889" cy="765581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8" name="Shape 45"/>
          <p:cNvSpPr/>
          <p:nvPr/>
        </p:nvSpPr>
        <p:spPr>
          <a:xfrm>
            <a:off x="4647438" y="3556330"/>
            <a:ext cx="421889" cy="855650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49" name="Shape 46"/>
          <p:cNvSpPr/>
          <p:nvPr/>
        </p:nvSpPr>
        <p:spPr>
          <a:xfrm>
            <a:off x="5327904" y="3871570"/>
            <a:ext cx="421889" cy="54041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0" name="Shape 47"/>
          <p:cNvSpPr/>
          <p:nvPr/>
        </p:nvSpPr>
        <p:spPr>
          <a:xfrm>
            <a:off x="6008370" y="4186809"/>
            <a:ext cx="421889" cy="225171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51" name="Shape 48"/>
          <p:cNvSpPr/>
          <p:nvPr/>
        </p:nvSpPr>
        <p:spPr>
          <a:xfrm>
            <a:off x="2560320" y="4411980"/>
            <a:ext cx="4174236" cy="0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487168" y="4393692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Score Distribution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7054596" y="3099816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54" name="Text 51"/>
          <p:cNvSpPr/>
          <p:nvPr/>
        </p:nvSpPr>
        <p:spPr>
          <a:xfrm>
            <a:off x="7146036" y="3154680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8821674" y="3483864"/>
            <a:ext cx="1005840" cy="1005840"/>
          </a:xfrm>
          <a:prstGeom prst="pie">
            <a:avLst>
              <a:gd name="adj1" fmla="val 0"/>
              <a:gd name="adj2" fmla="val 17280000"/>
            </a:avLst>
          </a:prstGeom>
          <a:solidFill>
            <a:srgbClr val="241B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821674" y="3483864"/>
            <a:ext cx="1005840" cy="1005840"/>
          </a:xfrm>
          <a:prstGeom prst="pie">
            <a:avLst>
              <a:gd name="adj1" fmla="val 17280000"/>
              <a:gd name="adj2" fmla="val 21600000"/>
            </a:avLst>
          </a:prstGeom>
          <a:solidFill>
            <a:srgbClr val="2EC4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03309" y="3765499"/>
            <a:ext cx="442570" cy="4425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8" name="Text 55"/>
          <p:cNvSpPr/>
          <p:nvPr/>
        </p:nvSpPr>
        <p:spPr>
          <a:xfrm>
            <a:off x="7164324" y="4393692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State Mix (4 Categories)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2377440" y="4732020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60" name="Text 57"/>
          <p:cNvSpPr/>
          <p:nvPr/>
        </p:nvSpPr>
        <p:spPr>
          <a:xfrm>
            <a:off x="2468880" y="4786884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 flipV="1">
            <a:off x="2606040" y="5570982"/>
            <a:ext cx="680466" cy="18928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286506" y="5570982"/>
            <a:ext cx="680466" cy="94640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V="1">
            <a:off x="3966972" y="5381701"/>
            <a:ext cx="680466" cy="28392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647438" y="5381701"/>
            <a:ext cx="680466" cy="94640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flipV="1">
            <a:off x="5327904" y="5239741"/>
            <a:ext cx="680466" cy="23660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008370" y="5239741"/>
            <a:ext cx="680466" cy="18928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560320" y="6044184"/>
            <a:ext cx="4174236" cy="0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487168" y="6025896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Trend Over Time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7054596" y="4732020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70" name="Text 67"/>
          <p:cNvSpPr/>
          <p:nvPr/>
        </p:nvSpPr>
        <p:spPr>
          <a:xfrm>
            <a:off x="7146036" y="4786884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7164324" y="5052060"/>
            <a:ext cx="4320540" cy="201168"/>
          </a:xfrm>
          <a:prstGeom prst="rect">
            <a:avLst/>
          </a:prstGeom>
          <a:solidFill>
            <a:srgbClr val="241B4F"/>
          </a:solidFill>
          <a:ln/>
        </p:spPr>
      </p:sp>
      <p:sp>
        <p:nvSpPr>
          <p:cNvPr id="72" name="Shape 69"/>
          <p:cNvSpPr/>
          <p:nvPr/>
        </p:nvSpPr>
        <p:spPr>
          <a:xfrm>
            <a:off x="7164324" y="5253228"/>
            <a:ext cx="4320540" cy="209169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255764" y="5330380"/>
            <a:ext cx="1512189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4" name="Shape 71"/>
          <p:cNvSpPr/>
          <p:nvPr/>
        </p:nvSpPr>
        <p:spPr>
          <a:xfrm>
            <a:off x="7164324" y="5462397"/>
            <a:ext cx="4320540" cy="209169"/>
          </a:xfrm>
          <a:prstGeom prst="rect">
            <a:avLst/>
          </a:prstGeom>
          <a:solidFill>
            <a:srgbClr val="EFEAFA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255764" y="5539549"/>
            <a:ext cx="1944243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6" name="Shape 73"/>
          <p:cNvSpPr/>
          <p:nvPr/>
        </p:nvSpPr>
        <p:spPr>
          <a:xfrm>
            <a:off x="7164324" y="5671566"/>
            <a:ext cx="4320540" cy="209169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255764" y="5748718"/>
            <a:ext cx="2376297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8" name="Shape 75"/>
          <p:cNvSpPr/>
          <p:nvPr/>
        </p:nvSpPr>
        <p:spPr>
          <a:xfrm>
            <a:off x="7164324" y="5880735"/>
            <a:ext cx="4320540" cy="209169"/>
          </a:xfrm>
          <a:prstGeom prst="rect">
            <a:avLst/>
          </a:prstGeom>
          <a:solidFill>
            <a:srgbClr val="EFEAFA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255764" y="5957887"/>
            <a:ext cx="1512189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80" name="Text 77"/>
          <p:cNvSpPr/>
          <p:nvPr/>
        </p:nvSpPr>
        <p:spPr>
          <a:xfrm>
            <a:off x="7164324" y="6025896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Employees (Ranked)</a:t>
            </a:r>
            <a:endParaRPr lang="en-US" sz="750" dirty="0"/>
          </a:p>
        </p:txBody>
      </p:sp>
      <p:sp>
        <p:nvSpPr>
          <p:cNvPr id="81" name="Text 7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 · DASHBOARD WIREFRAMES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6 OF 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Driver Analysis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view of digital habits, sleep and stress against productivity.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11274552" cy="4892040"/>
          </a:xfrm>
          <a:prstGeom prst="roundRect">
            <a:avLst>
              <a:gd name="adj" fmla="val 1121"/>
            </a:avLst>
          </a:prstGeom>
          <a:solidFill>
            <a:srgbClr val="F5F3FB"/>
          </a:solidFill>
          <a:ln w="12700">
            <a:solidFill>
              <a:srgbClr val="B9C4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359152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59152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&amp; Work-Mode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123944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23944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Habit Explorer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888736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88736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Recovery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7653528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53528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Monitor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418320" y="17373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41B4F"/>
          </a:solidFill>
          <a:ln w="9525">
            <a:solidFill>
              <a:srgbClr val="B9C4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0" y="17373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Drivers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94360" y="2157984"/>
            <a:ext cx="1600200" cy="4206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685800" y="221284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/ SLICERS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04088" y="2542032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25420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04088" y="3163824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316382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04088" y="3785616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378561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State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4088" y="4407408"/>
            <a:ext cx="138074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44074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Tier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377440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2" name="Text 29"/>
          <p:cNvSpPr/>
          <p:nvPr/>
        </p:nvSpPr>
        <p:spPr>
          <a:xfrm>
            <a:off x="2377440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</a:rPr>
              <a:t>xx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2377440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Productivity Score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4704588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5" name="Text 32"/>
          <p:cNvSpPr/>
          <p:nvPr/>
        </p:nvSpPr>
        <p:spPr>
          <a:xfrm>
            <a:off x="4704588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704588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vs. Burnout Score</a:t>
            </a:r>
            <a:endParaRPr lang="en-US" sz="720" dirty="0"/>
          </a:p>
        </p:txBody>
      </p:sp>
      <p:sp>
        <p:nvSpPr>
          <p:cNvPr id="37" name="Shape 34"/>
          <p:cNvSpPr/>
          <p:nvPr/>
        </p:nvSpPr>
        <p:spPr>
          <a:xfrm>
            <a:off x="7054596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38" name="Text 35"/>
          <p:cNvSpPr/>
          <p:nvPr/>
        </p:nvSpPr>
        <p:spPr>
          <a:xfrm>
            <a:off x="7031736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</a:rPr>
              <a:t>xx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031736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Time–Burnout Correlation</a:t>
            </a:r>
            <a:endParaRPr lang="en-US" sz="720" dirty="0"/>
          </a:p>
        </p:txBody>
      </p:sp>
      <p:sp>
        <p:nvSpPr>
          <p:cNvPr id="40" name="Shape 37"/>
          <p:cNvSpPr/>
          <p:nvPr/>
        </p:nvSpPr>
        <p:spPr>
          <a:xfrm>
            <a:off x="9358884" y="2157984"/>
            <a:ext cx="2235708" cy="777240"/>
          </a:xfrm>
          <a:prstGeom prst="roundRect">
            <a:avLst>
              <a:gd name="adj" fmla="val 5882"/>
            </a:avLst>
          </a:prstGeom>
          <a:solidFill>
            <a:srgbClr val="241B4F"/>
          </a:solidFill>
          <a:ln/>
        </p:spPr>
      </p:sp>
      <p:sp>
        <p:nvSpPr>
          <p:cNvPr id="41" name="Text 38"/>
          <p:cNvSpPr/>
          <p:nvPr/>
        </p:nvSpPr>
        <p:spPr>
          <a:xfrm>
            <a:off x="9358884" y="2231136"/>
            <a:ext cx="2235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358884" y="2633472"/>
            <a:ext cx="22357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Media–Productivity Correlation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2377440" y="3099816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2468880" y="3154680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606040" y="3556330"/>
            <a:ext cx="632833" cy="85565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6" name="Shape 43"/>
          <p:cNvSpPr/>
          <p:nvPr/>
        </p:nvSpPr>
        <p:spPr>
          <a:xfrm>
            <a:off x="3626739" y="3601364"/>
            <a:ext cx="632833" cy="810616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47" name="Shape 44"/>
          <p:cNvSpPr/>
          <p:nvPr/>
        </p:nvSpPr>
        <p:spPr>
          <a:xfrm>
            <a:off x="4647438" y="3601364"/>
            <a:ext cx="632833" cy="81061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8" name="Shape 45"/>
          <p:cNvSpPr/>
          <p:nvPr/>
        </p:nvSpPr>
        <p:spPr>
          <a:xfrm>
            <a:off x="5668137" y="3664412"/>
            <a:ext cx="632833" cy="747568"/>
          </a:xfrm>
          <a:prstGeom prst="rect">
            <a:avLst/>
          </a:prstGeom>
          <a:solidFill>
            <a:srgbClr val="32255F"/>
          </a:solidFill>
          <a:ln/>
        </p:spPr>
      </p:sp>
      <p:sp>
        <p:nvSpPr>
          <p:cNvPr id="49" name="Shape 46"/>
          <p:cNvSpPr/>
          <p:nvPr/>
        </p:nvSpPr>
        <p:spPr>
          <a:xfrm>
            <a:off x="2560320" y="4411980"/>
            <a:ext cx="4174236" cy="0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487168" y="4393692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Score by Mental State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7054596" y="3099816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52" name="Text 49"/>
          <p:cNvSpPr/>
          <p:nvPr/>
        </p:nvSpPr>
        <p:spPr>
          <a:xfrm>
            <a:off x="7146036" y="3154680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 flipV="1">
            <a:off x="7283196" y="3938778"/>
            <a:ext cx="680466" cy="18928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963662" y="3938778"/>
            <a:ext cx="680466" cy="94640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8644128" y="3749497"/>
            <a:ext cx="680466" cy="28392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324594" y="3749497"/>
            <a:ext cx="680466" cy="94640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V="1">
            <a:off x="10005060" y="3607537"/>
            <a:ext cx="680466" cy="23660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685526" y="3607537"/>
            <a:ext cx="680466" cy="189281"/>
          </a:xfrm>
          <a:prstGeom prst="line">
            <a:avLst/>
          </a:prstGeom>
          <a:noFill/>
          <a:ln w="28575">
            <a:solidFill>
              <a:srgbClr val="2EC4B6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237476" y="4411980"/>
            <a:ext cx="4174236" cy="0"/>
          </a:xfrm>
          <a:prstGeom prst="line">
            <a:avLst/>
          </a:prstGeom>
          <a:noFill/>
          <a:ln w="12700">
            <a:solidFill>
              <a:srgbClr val="B9C4D6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164324" y="4393692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 Hours vs. Productivity Trend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2377440" y="4732020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62" name="Text 59"/>
          <p:cNvSpPr/>
          <p:nvPr/>
        </p:nvSpPr>
        <p:spPr>
          <a:xfrm>
            <a:off x="2468880" y="4786884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2487168" y="5052060"/>
            <a:ext cx="4320540" cy="201168"/>
          </a:xfrm>
          <a:prstGeom prst="rect">
            <a:avLst/>
          </a:prstGeom>
          <a:solidFill>
            <a:srgbClr val="241B4F"/>
          </a:solidFill>
          <a:ln/>
        </p:spPr>
      </p:sp>
      <p:sp>
        <p:nvSpPr>
          <p:cNvPr id="64" name="Shape 61"/>
          <p:cNvSpPr/>
          <p:nvPr/>
        </p:nvSpPr>
        <p:spPr>
          <a:xfrm>
            <a:off x="2487168" y="5253228"/>
            <a:ext cx="4320540" cy="209169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578608" y="5330380"/>
            <a:ext cx="1512189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66" name="Shape 63"/>
          <p:cNvSpPr/>
          <p:nvPr/>
        </p:nvSpPr>
        <p:spPr>
          <a:xfrm>
            <a:off x="2487168" y="5462397"/>
            <a:ext cx="4320540" cy="209169"/>
          </a:xfrm>
          <a:prstGeom prst="rect">
            <a:avLst/>
          </a:prstGeom>
          <a:solidFill>
            <a:srgbClr val="EFEAFA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578608" y="5539549"/>
            <a:ext cx="1944243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68" name="Shape 65"/>
          <p:cNvSpPr/>
          <p:nvPr/>
        </p:nvSpPr>
        <p:spPr>
          <a:xfrm>
            <a:off x="2487168" y="5671566"/>
            <a:ext cx="4320540" cy="209169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578608" y="5748718"/>
            <a:ext cx="2376297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0" name="Shape 67"/>
          <p:cNvSpPr/>
          <p:nvPr/>
        </p:nvSpPr>
        <p:spPr>
          <a:xfrm>
            <a:off x="2487168" y="5880735"/>
            <a:ext cx="4320540" cy="209169"/>
          </a:xfrm>
          <a:prstGeom prst="rect">
            <a:avLst/>
          </a:prstGeom>
          <a:solidFill>
            <a:srgbClr val="EFEAFA"/>
          </a:solidFill>
          <a:ln w="6350">
            <a:solidFill>
              <a:srgbClr val="E3E9F2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578608" y="5957887"/>
            <a:ext cx="1512189" cy="54864"/>
          </a:xfrm>
          <a:prstGeom prst="rect">
            <a:avLst/>
          </a:prstGeom>
          <a:solidFill>
            <a:srgbClr val="C7D0DE"/>
          </a:solidFill>
          <a:ln/>
        </p:spPr>
      </p:sp>
      <p:sp>
        <p:nvSpPr>
          <p:cNvPr id="72" name="Text 69"/>
          <p:cNvSpPr/>
          <p:nvPr/>
        </p:nvSpPr>
        <p:spPr>
          <a:xfrm>
            <a:off x="2487168" y="6025896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Productivity Drivers (Ranked)</a:t>
            </a:r>
            <a:endParaRPr lang="en-US" sz="750" dirty="0"/>
          </a:p>
        </p:txBody>
      </p:sp>
      <p:sp>
        <p:nvSpPr>
          <p:cNvPr id="73" name="Shape 70"/>
          <p:cNvSpPr/>
          <p:nvPr/>
        </p:nvSpPr>
        <p:spPr>
          <a:xfrm>
            <a:off x="7054596" y="4732020"/>
            <a:ext cx="4539996" cy="1495044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B9C4D6"/>
            </a:solidFill>
            <a:prstDash val="dash"/>
          </a:ln>
        </p:spPr>
      </p:sp>
      <p:sp>
        <p:nvSpPr>
          <p:cNvPr id="74" name="Text 71"/>
          <p:cNvSpPr/>
          <p:nvPr/>
        </p:nvSpPr>
        <p:spPr>
          <a:xfrm>
            <a:off x="7146036" y="4786884"/>
            <a:ext cx="43571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8821674" y="5116068"/>
            <a:ext cx="1005840" cy="1005840"/>
          </a:xfrm>
          <a:prstGeom prst="pie">
            <a:avLst>
              <a:gd name="adj1" fmla="val 0"/>
              <a:gd name="adj2" fmla="val 15480000"/>
            </a:avLst>
          </a:prstGeom>
          <a:solidFill>
            <a:srgbClr val="241B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821674" y="5116068"/>
            <a:ext cx="1005840" cy="1005840"/>
          </a:xfrm>
          <a:prstGeom prst="pie">
            <a:avLst>
              <a:gd name="adj1" fmla="val 15480000"/>
              <a:gd name="adj2" fmla="val 21600000"/>
            </a:avLst>
          </a:prstGeom>
          <a:solidFill>
            <a:srgbClr val="2EC4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9103309" y="5397703"/>
            <a:ext cx="442570" cy="4425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8" name="Text 75"/>
          <p:cNvSpPr/>
          <p:nvPr/>
        </p:nvSpPr>
        <p:spPr>
          <a:xfrm>
            <a:off x="7164324" y="6025896"/>
            <a:ext cx="43205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Category Split (Low/Med/High)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 · DASHBOARD WIREFRAMES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Opportunities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37160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EFEAF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72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PROBLEM: BURNOUT RISK PREDICTION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201168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Type:  </a:t>
            </a:r>
            <a:r>
              <a:rPr lang="en-US" sz="113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/ multi-class classification (supervised)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731520" y="27249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 </a:t>
            </a:r>
            <a:r>
              <a:rPr lang="en-US" sz="113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burnout_risk (0-100) or mental_state category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731520" y="343814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 </a:t>
            </a:r>
            <a:r>
              <a:rPr lang="en-US" sz="113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digital-habit features; moderate class imbalance in Burnout state (~20%)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731520" y="415137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Features:  </a:t>
            </a:r>
            <a:r>
              <a:rPr lang="en-US" sz="113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time, notifications, sleep_hours, stress_level, deep_work_hours, occupation</a:t>
            </a:r>
            <a:endParaRPr lang="en-US" sz="1130" dirty="0"/>
          </a:p>
        </p:txBody>
      </p:sp>
      <p:sp>
        <p:nvSpPr>
          <p:cNvPr id="13" name="Text 10"/>
          <p:cNvSpPr/>
          <p:nvPr/>
        </p:nvSpPr>
        <p:spPr>
          <a:xfrm>
            <a:off x="731520" y="486460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Algorithms:  </a:t>
            </a:r>
            <a:r>
              <a:rPr lang="en-US" sz="113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Linear/Logistic Regression (baseline), Random Forest, XGBoost / LightGBM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731520" y="557784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3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 </a:t>
            </a:r>
            <a:r>
              <a:rPr lang="en-US" sz="113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RMSE/R² for regression; Precision, Recall, F1 for state classification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6035040" y="1371600"/>
            <a:ext cx="5696712" cy="2377440"/>
          </a:xfrm>
          <a:prstGeom prst="roundRect">
            <a:avLst>
              <a:gd name="adj" fmla="val 3077"/>
            </a:avLst>
          </a:prstGeom>
          <a:solidFill>
            <a:srgbClr val="241B4F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15727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OPPORTUNITY: PRODUCTIVITY SCORE PREDICTION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1965960"/>
            <a:ext cx="5166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model predicting productivity_score from digital-habit and wellbeing features, letting teams simulate the productivity impact of reducing screen time, improving sleep, or capping notification load before rolling out a workplace policy change.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35040" y="3931920"/>
            <a:ext cx="5696712" cy="2377440"/>
          </a:xfrm>
          <a:prstGeom prst="roundRect">
            <a:avLst>
              <a:gd name="adj" fmla="val 3077"/>
            </a:avLst>
          </a:prstGeom>
          <a:solidFill>
            <a:srgbClr val="EFEAFA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41330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OPPORTUNITY: EMPLOYEE RISK SEGMENTATION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309360" y="4526280"/>
            <a:ext cx="5166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 (K-Means) on digital-habit and wellbeing features to discover natural employee risk segments beyond the existing mental-state labels, feeding a targeted digital-wellness outreach program.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Deliverables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600200"/>
            <a:ext cx="475488" cy="475488"/>
          </a:xfrm>
          <a:prstGeom prst="ellipse">
            <a:avLst/>
          </a:prstGeom>
          <a:solidFill>
            <a:srgbClr val="241B4F"/>
          </a:solidFill>
          <a:ln/>
        </p:spPr>
      </p:sp>
      <p:pic>
        <p:nvPicPr>
          <p:cNvPr id="9" name="Image 1" descr="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1723827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222199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26060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audit, consistency checks &amp; business-rule queries in SQL Server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33672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16552" y="1600200"/>
            <a:ext cx="475488" cy="475488"/>
          </a:xfrm>
          <a:prstGeom prst="ellipse">
            <a:avLst/>
          </a:prstGeom>
          <a:solidFill>
            <a:srgbClr val="241B4F"/>
          </a:solidFill>
          <a:ln/>
        </p:spPr>
      </p:sp>
      <p:pic>
        <p:nvPicPr>
          <p:cNvPr id="14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179" y="1723827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16552" y="222199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Notebook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416552" y="26060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&amp; diagnostic analysis with visual distributions and correlations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10144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93024" y="1600200"/>
            <a:ext cx="475488" cy="475488"/>
          </a:xfrm>
          <a:prstGeom prst="ellipse">
            <a:avLst/>
          </a:prstGeom>
          <a:solidFill>
            <a:srgbClr val="241B4F"/>
          </a:solidFill>
          <a:ln/>
        </p:spPr>
      </p:sp>
      <p:pic>
        <p:nvPicPr>
          <p:cNvPr id="19" name="Image 3" descr="icons/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6651" y="1723827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93024" y="222199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193024" y="26060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6-page interactive executive &amp; people-ops digital-wellbeing dashboard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3931920"/>
            <a:ext cx="475488" cy="475488"/>
          </a:xfrm>
          <a:prstGeom prst="ellipse">
            <a:avLst/>
          </a:prstGeom>
          <a:solidFill>
            <a:srgbClr val="241B4F"/>
          </a:solidFill>
          <a:ln/>
        </p:spPr>
      </p:sp>
      <p:pic>
        <p:nvPicPr>
          <p:cNvPr id="24" name="Image 4" descr="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707" y="4055547"/>
            <a:ext cx="228234" cy="22823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" y="45537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640080" y="49377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Trained, validated burnout-risk/productivity model with performance report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233672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416552" y="3931920"/>
            <a:ext cx="475488" cy="475488"/>
          </a:xfrm>
          <a:prstGeom prst="ellipse">
            <a:avLst/>
          </a:prstGeom>
          <a:solidFill>
            <a:srgbClr val="241B4F"/>
          </a:solidFill>
          <a:ln/>
        </p:spPr>
      </p:sp>
      <p:pic>
        <p:nvPicPr>
          <p:cNvPr id="29" name="Image 5" descr="icons/mob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0179" y="4055547"/>
            <a:ext cx="228234" cy="22823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416552" y="45537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4416552" y="49377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burnout-risk scoring tool for HR &amp; people-ops teams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010144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F5F3FB"/>
            </a:solidFill>
            <a:prstDash val="solid"/>
          </a:ln>
          <a:effectLst>
            <a:outerShdw blurRad="76200" dist="25400" dir="5400000" algn="bl" rotWithShape="0">
              <a:srgbClr val="9AA5C0">
                <a:alpha val="3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193024" y="3931920"/>
            <a:ext cx="475488" cy="475488"/>
          </a:xfrm>
          <a:prstGeom prst="ellipse">
            <a:avLst/>
          </a:prstGeom>
          <a:solidFill>
            <a:srgbClr val="241B4F"/>
          </a:solidFill>
          <a:ln/>
        </p:spPr>
      </p:sp>
      <p:pic>
        <p:nvPicPr>
          <p:cNvPr id="34" name="Image 6" descr="icons/fileexce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6651" y="4055547"/>
            <a:ext cx="228234" cy="22823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193024" y="45537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 Report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8193024" y="49377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translating findings into concrete action items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173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17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" y="1380744"/>
            <a:ext cx="5001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ML burnout-risk model to flag high-risk employees for proactive HR check-ins.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91072" y="14173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1" name="Text 8"/>
          <p:cNvSpPr/>
          <p:nvPr/>
        </p:nvSpPr>
        <p:spPr>
          <a:xfrm>
            <a:off x="6291072" y="1417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29984" y="1380744"/>
            <a:ext cx="5001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or batch non-urgent notifications — notification load is a key interruption driver across all roles.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3591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3591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96112" y="2322576"/>
            <a:ext cx="5001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sleep-hygiene program targeting the 35% of employee-days with under 6 hours of sleep.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91072" y="23591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7" name="Text 14"/>
          <p:cNvSpPr/>
          <p:nvPr/>
        </p:nvSpPr>
        <p:spPr>
          <a:xfrm>
            <a:off x="6291072" y="23591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29984" y="2322576"/>
            <a:ext cx="5001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deep-work blocks on calendars given the strong link between deep work hours and productivity.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30098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3300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6112" y="3264408"/>
            <a:ext cx="5001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digital-wellness support evenly across occupations — burnout risk doesn't concentrate in one role.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91072" y="330098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23" name="Text 20"/>
          <p:cNvSpPr/>
          <p:nvPr/>
        </p:nvSpPr>
        <p:spPr>
          <a:xfrm>
            <a:off x="6291072" y="3300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729984" y="3264408"/>
            <a:ext cx="5001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late-night device “wind-down” nudge given its link to sleep deficit and elevated burnout risk.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24281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242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96112" y="4206240"/>
            <a:ext cx="5001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the burnout-risk model quarterly as work patterns and policies evolve.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291072" y="424281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29" name="Text 26"/>
          <p:cNvSpPr/>
          <p:nvPr/>
        </p:nvSpPr>
        <p:spPr>
          <a:xfrm>
            <a:off x="6291072" y="4242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729984" y="4206240"/>
            <a:ext cx="5001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work-mode policy (Remote/Hybrid/Office) using burnout and productivity data, not assumption.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518464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5184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96112" y="5148072"/>
            <a:ext cx="5001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burnout-risk and productivity trends to leadership quarterly to track program impact.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291072" y="518464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5" name="Text 32"/>
          <p:cNvSpPr/>
          <p:nvPr/>
        </p:nvSpPr>
        <p:spPr>
          <a:xfrm>
            <a:off x="6291072" y="5184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729984" y="5148072"/>
            <a:ext cx="5001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employee segmentation to tailor interventions instead of one-size-fits-all wellness programs.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Outcomes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241B4F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9" name="Image 1" descr="icons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7190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2194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Decision-Making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0080" y="26517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gains a single, evidence-based view of digital wellbeing and productivity instead of guesswork.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33672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241B4F"/>
          </a:solidFill>
          <a:ln/>
        </p:spPr>
      </p:sp>
      <p:sp>
        <p:nvSpPr>
          <p:cNvPr id="13" name="Shape 9"/>
          <p:cNvSpPr/>
          <p:nvPr/>
        </p:nvSpPr>
        <p:spPr>
          <a:xfrm>
            <a:off x="4416552" y="1600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4" name="Image 2" descr="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17190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16552" y="2194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416552" y="26517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People-ops teams focus support on the highest-risk employees and highest-impact habits.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010144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241B4F"/>
          </a:solidFill>
          <a:ln/>
        </p:spPr>
      </p:sp>
      <p:sp>
        <p:nvSpPr>
          <p:cNvPr id="18" name="Shape 13"/>
          <p:cNvSpPr/>
          <p:nvPr/>
        </p:nvSpPr>
        <p:spPr>
          <a:xfrm>
            <a:off x="8193024" y="1600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9" name="Image 3" descr="icons/mon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171907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93024" y="2194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Profitability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193024" y="26517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burnout-driven productivity loss directly protects output and lowers attrition cost.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57200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FEAFA"/>
          </a:solidFill>
          <a:ln/>
        </p:spPr>
      </p:sp>
      <p:sp>
        <p:nvSpPr>
          <p:cNvPr id="23" name="Shape 17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icons/users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4050792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" y="4526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Employee Experience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40080" y="49834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data-backed support improves trust and workplace wellbeing culture.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233672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FEAFA"/>
          </a:solidFill>
          <a:ln/>
        </p:spPr>
      </p:sp>
      <p:sp>
        <p:nvSpPr>
          <p:cNvPr id="28" name="Shape 21"/>
          <p:cNvSpPr/>
          <p:nvPr/>
        </p:nvSpPr>
        <p:spPr>
          <a:xfrm>
            <a:off x="4416552" y="3931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icons/rocket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5424" y="4050792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416552" y="4526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Business Growth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416552" y="49834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demonstrably healthier digital workplace supports confident scaling of remote &amp; hybrid work.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41B4F"/>
          </a:solidFill>
          <a:ln/>
        </p:spPr>
      </p:sp>
      <p:pic>
        <p:nvPicPr>
          <p:cNvPr id="3" name="Image 0" descr="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8463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576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Execution Roadmap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9050">
            <a:solidFill>
              <a:srgbClr val="F5F3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six-phase delivery methodology — from business understanding to a decision-ready dashboard.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3611880" cy="2395728"/>
          </a:xfrm>
          <a:prstGeom prst="roundRect">
            <a:avLst>
              <a:gd name="adj" fmla="val 3053"/>
            </a:avLst>
          </a:prstGeom>
          <a:solidFill>
            <a:srgbClr val="241B4F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0" y="1719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3A2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21792" y="1773936"/>
            <a:ext cx="402336" cy="40233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99" y="1878543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1792" y="2231136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 Document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1792" y="2706624"/>
            <a:ext cx="32826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business context &amp; problem statement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technology stack to be used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all available data sources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expected outputs / deliverables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assumptions &amp; client clarifications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4233672" y="1627632"/>
            <a:ext cx="3611880" cy="2395728"/>
          </a:xfrm>
          <a:prstGeom prst="roundRect">
            <a:avLst>
              <a:gd name="adj" fmla="val 3053"/>
            </a:avLst>
          </a:prstGeom>
          <a:solidFill>
            <a:srgbClr val="241B4F"/>
          </a:solidFill>
          <a:ln/>
        </p:spPr>
      </p:sp>
      <p:sp>
        <p:nvSpPr>
          <p:cNvPr id="15" name="Text 11"/>
          <p:cNvSpPr/>
          <p:nvPr/>
        </p:nvSpPr>
        <p:spPr>
          <a:xfrm>
            <a:off x="7068312" y="1719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3A2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4398264" y="1773936"/>
            <a:ext cx="402336" cy="40233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2" descr="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871" y="1878543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98264" y="2231136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Checks &amp; Consistency (SQL)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398264" y="2706624"/>
            <a:ext cx="32826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provided data into SQL Server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 inconsistency &amp; quality checks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detailed list of data issues with SQL code &amp; comments</a:t>
            </a:r>
            <a:endParaRPr lang="en-US" sz="870" dirty="0"/>
          </a:p>
        </p:txBody>
      </p:sp>
      <p:sp>
        <p:nvSpPr>
          <p:cNvPr id="20" name="Shape 15"/>
          <p:cNvSpPr/>
          <p:nvPr/>
        </p:nvSpPr>
        <p:spPr>
          <a:xfrm>
            <a:off x="8010144" y="1627632"/>
            <a:ext cx="3611880" cy="2395728"/>
          </a:xfrm>
          <a:prstGeom prst="roundRect">
            <a:avLst>
              <a:gd name="adj" fmla="val 3053"/>
            </a:avLst>
          </a:prstGeom>
          <a:solidFill>
            <a:srgbClr val="241B4F"/>
          </a:solidFill>
          <a:ln/>
        </p:spPr>
      </p:sp>
      <p:sp>
        <p:nvSpPr>
          <p:cNvPr id="21" name="Text 16"/>
          <p:cNvSpPr/>
          <p:nvPr/>
        </p:nvSpPr>
        <p:spPr>
          <a:xfrm>
            <a:off x="10844784" y="1719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3A2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8174736" y="1773936"/>
            <a:ext cx="402336" cy="40233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3" name="Image 3" descr="icons/bro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9343" y="1878543"/>
            <a:ext cx="193121" cy="1931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174736" y="2231136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Plan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174736" y="2706624"/>
            <a:ext cx="32826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data quality issues found during audit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solutions to fix each consistency issue</a:t>
            </a:r>
            <a:endParaRPr lang="en-US" sz="870" dirty="0"/>
          </a:p>
        </p:txBody>
      </p:sp>
      <p:sp>
        <p:nvSpPr>
          <p:cNvPr id="26" name="Shape 20"/>
          <p:cNvSpPr/>
          <p:nvPr/>
        </p:nvSpPr>
        <p:spPr>
          <a:xfrm>
            <a:off x="457200" y="4169664"/>
            <a:ext cx="3611880" cy="2395728"/>
          </a:xfrm>
          <a:prstGeom prst="roundRect">
            <a:avLst>
              <a:gd name="adj" fmla="val 3053"/>
            </a:avLst>
          </a:prstGeom>
          <a:solidFill>
            <a:srgbClr val="EFEAFA"/>
          </a:solidFill>
          <a:ln/>
        </p:spPr>
      </p:sp>
      <p:sp>
        <p:nvSpPr>
          <p:cNvPr id="27" name="Text 21"/>
          <p:cNvSpPr/>
          <p:nvPr/>
        </p:nvSpPr>
        <p:spPr>
          <a:xfrm>
            <a:off x="3291840" y="42611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CD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Shape 22"/>
          <p:cNvSpPr/>
          <p:nvPr/>
        </p:nvSpPr>
        <p:spPr>
          <a:xfrm>
            <a:off x="621792" y="431596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icons/search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399" y="4420575"/>
            <a:ext cx="193121" cy="19312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21792" y="4773168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Plan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21792" y="5248656"/>
            <a:ext cx="32826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KPIs, KRAs, KRIs &amp; descriptive-analysis variables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diagnostic-analysis calculations &amp; variables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analytical approach &amp; methodology</a:t>
            </a:r>
            <a:endParaRPr lang="en-US" sz="870" dirty="0"/>
          </a:p>
        </p:txBody>
      </p:sp>
      <p:sp>
        <p:nvSpPr>
          <p:cNvPr id="32" name="Shape 25"/>
          <p:cNvSpPr/>
          <p:nvPr/>
        </p:nvSpPr>
        <p:spPr>
          <a:xfrm>
            <a:off x="4233672" y="4169664"/>
            <a:ext cx="3611880" cy="2395728"/>
          </a:xfrm>
          <a:prstGeom prst="roundRect">
            <a:avLst>
              <a:gd name="adj" fmla="val 3053"/>
            </a:avLst>
          </a:prstGeom>
          <a:solidFill>
            <a:srgbClr val="EFEAFA"/>
          </a:solidFill>
          <a:ln/>
        </p:spPr>
      </p:sp>
      <p:sp>
        <p:nvSpPr>
          <p:cNvPr id="33" name="Text 26"/>
          <p:cNvSpPr/>
          <p:nvPr/>
        </p:nvSpPr>
        <p:spPr>
          <a:xfrm>
            <a:off x="7068312" y="42611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CD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34" name="Shape 27"/>
          <p:cNvSpPr/>
          <p:nvPr/>
        </p:nvSpPr>
        <p:spPr>
          <a:xfrm>
            <a:off x="4398264" y="431596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5" descr="icons/brain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871" y="4420575"/>
            <a:ext cx="193121" cy="193121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398264" y="4773168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Plan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4398264" y="5248656"/>
            <a:ext cx="32826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predictive analyses possible on this dataset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model-selection rationale (e.g., Logistic Regression)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feature strategy, evaluation metrics &amp; outputs</a:t>
            </a:r>
            <a:endParaRPr lang="en-US" sz="870" dirty="0"/>
          </a:p>
        </p:txBody>
      </p:sp>
      <p:sp>
        <p:nvSpPr>
          <p:cNvPr id="38" name="Shape 30"/>
          <p:cNvSpPr/>
          <p:nvPr/>
        </p:nvSpPr>
        <p:spPr>
          <a:xfrm>
            <a:off x="8010144" y="4169664"/>
            <a:ext cx="3611880" cy="2395728"/>
          </a:xfrm>
          <a:prstGeom prst="roundRect">
            <a:avLst>
              <a:gd name="adj" fmla="val 3053"/>
            </a:avLst>
          </a:prstGeom>
          <a:solidFill>
            <a:srgbClr val="EFEAFA"/>
          </a:solidFill>
          <a:ln/>
        </p:spPr>
      </p:sp>
      <p:sp>
        <p:nvSpPr>
          <p:cNvPr id="39" name="Text 31"/>
          <p:cNvSpPr/>
          <p:nvPr/>
        </p:nvSpPr>
        <p:spPr>
          <a:xfrm>
            <a:off x="10844784" y="42611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CD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40" name="Shape 32"/>
          <p:cNvSpPr/>
          <p:nvPr/>
        </p:nvSpPr>
        <p:spPr>
          <a:xfrm>
            <a:off x="8174736" y="431596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6" descr="icons/dashboard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9343" y="4420575"/>
            <a:ext cx="193121" cy="193121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174736" y="4773168"/>
            <a:ext cx="3282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 Plan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8174736" y="5248656"/>
            <a:ext cx="32826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number of dashboards &amp; their themes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KPIs with detailed calculation formulas</a:t>
            </a:r>
            <a:endParaRPr lang="en-US" sz="870" dirty="0"/>
          </a:p>
          <a:p>
            <a:pPr marL="342900" indent="-342900">
              <a:lnSpc>
                <a:spcPct val="110000"/>
              </a:lnSpc>
              <a:spcAft>
                <a:spcPts val="300"/>
              </a:spcAft>
              <a:buSzPct val="100000"/>
              <a:buChar char="▪"/>
            </a:pPr>
            <a:r>
              <a:rPr lang="en-US" sz="870" dirty="0">
                <a:solidFill>
                  <a:srgbClr val="322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chart types, granularity, filters &amp; stakeholders</a:t>
            </a:r>
            <a:endParaRPr lang="en-US" sz="870" dirty="0"/>
          </a:p>
        </p:txBody>
      </p:sp>
      <p:sp>
        <p:nvSpPr>
          <p:cNvPr id="44" name="Text 35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1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32255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291840" cy="3291840"/>
          </a:xfrm>
          <a:prstGeom prst="ellipse">
            <a:avLst/>
          </a:prstGeom>
          <a:solidFill>
            <a:srgbClr val="32255F"/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1965960"/>
            <a:ext cx="822960" cy="8229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" name="Image 0" descr="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966" y="2179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175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0" y="37490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consideration.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997196" y="4434840"/>
            <a:ext cx="219456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5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Burnout &amp; Workplace Productivity Analytics  ·  HR Tech &amp; People Analytics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3226</Words>
  <Application>Microsoft Office PowerPoint</Application>
  <PresentationFormat>Widescreen</PresentationFormat>
  <Paragraphs>591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Aakash kumar</cp:lastModifiedBy>
  <cp:revision>5</cp:revision>
  <dcterms:created xsi:type="dcterms:W3CDTF">2026-07-21T10:27:48Z</dcterms:created>
  <dcterms:modified xsi:type="dcterms:W3CDTF">2026-07-21T10:40:51Z</dcterms:modified>
</cp:coreProperties>
</file>